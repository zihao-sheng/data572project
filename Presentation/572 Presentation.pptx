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Lst>
  <p:sldSz cy="5143500" cx="9144000"/>
  <p:notesSz cx="6858000" cy="9144000"/>
  <p:embeddedFontLst>
    <p:embeddedFont>
      <p:font typeface="Roboto Mono"/>
      <p:regular r:id="rId40"/>
      <p:bold r:id="rId41"/>
      <p:italic r:id="rId42"/>
      <p:boldItalic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orient="horz" pos="1188">
          <p15:clr>
            <a:srgbClr val="A4A3A4"/>
          </p15:clr>
        </p15:guide>
        <p15:guide id="3" orient="horz" pos="972">
          <p15:clr>
            <a:srgbClr val="A4A3A4"/>
          </p15:clr>
        </p15:guide>
        <p15:guide id="4" orient="horz" pos="756">
          <p15:clr>
            <a:srgbClr val="A4A3A4"/>
          </p15:clr>
        </p15:guide>
        <p15:guide id="5" orient="horz" pos="1080">
          <p15:clr>
            <a:srgbClr val="A4A3A4"/>
          </p15:clr>
        </p15:guide>
        <p15:guide id="6" orient="horz" pos="1404">
          <p15:clr>
            <a:srgbClr val="A4A3A4"/>
          </p15:clr>
        </p15:guide>
        <p15:guide id="7" orient="horz" pos="1296">
          <p15:clr>
            <a:srgbClr val="A4A3A4"/>
          </p15:clr>
        </p15:guide>
        <p15:guide id="8" orient="horz" pos="864">
          <p15:clr>
            <a:srgbClr val="A4A3A4"/>
          </p15:clr>
        </p15:guide>
        <p15:guide id="9" pos="2880">
          <p15:clr>
            <a:srgbClr val="A4A3A4"/>
          </p15:clr>
        </p15:guide>
        <p15:guide id="10" pos="1728">
          <p15:clr>
            <a:srgbClr val="A4A3A4"/>
          </p15:clr>
        </p15:guide>
        <p15:guide id="11" pos="721">
          <p15:clr>
            <a:srgbClr val="A4A3A4"/>
          </p15:clr>
        </p15:guide>
        <p15:guide id="12" pos="1144">
          <p15:clr>
            <a:srgbClr val="A4A3A4"/>
          </p15:clr>
        </p15:guide>
        <p15:guide id="13" pos="3455">
          <p15:clr>
            <a:srgbClr val="A4A3A4"/>
          </p15:clr>
        </p15:guide>
        <p15:guide id="14" pos="5184">
          <p15:clr>
            <a:srgbClr val="A4A3A4"/>
          </p15:clr>
        </p15:guide>
        <p15:guide id="15" pos="2305">
          <p15:clr>
            <a:srgbClr val="A4A3A4"/>
          </p15:clr>
        </p15:guide>
        <p15:guide id="16" pos="4035">
          <p15:clr>
            <a:srgbClr val="A4A3A4"/>
          </p15:clr>
        </p15:guide>
      </p15:sldGuideLst>
    </p:ext>
    <p:ext uri="{2D200454-40CA-4A62-9FC3-DE9A4176ACB9}">
      <p15:notesGuideLst>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1188" orient="horz"/>
        <p:guide pos="972" orient="horz"/>
        <p:guide pos="756" orient="horz"/>
        <p:guide pos="1080" orient="horz"/>
        <p:guide pos="1404" orient="horz"/>
        <p:guide pos="1296" orient="horz"/>
        <p:guide pos="864" orient="horz"/>
        <p:guide pos="2880"/>
        <p:guide pos="1728"/>
        <p:guide pos="721"/>
        <p:guide pos="1144"/>
        <p:guide pos="3455"/>
        <p:guide pos="5184"/>
        <p:guide pos="2305"/>
        <p:guide pos="4035"/>
      </p:guideLst>
    </p:cSldViewPr>
  </p:slideViewPr>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font" Target="fonts/RobotoMono-regular.fntdata"/><Relationship Id="rId20" Type="http://schemas.openxmlformats.org/officeDocument/2006/relationships/slide" Target="slides/slide15.xml"/><Relationship Id="rId42" Type="http://schemas.openxmlformats.org/officeDocument/2006/relationships/font" Target="fonts/RobotoMono-italic.fntdata"/><Relationship Id="rId41" Type="http://schemas.openxmlformats.org/officeDocument/2006/relationships/font" Target="fonts/RobotoMono-bold.fntdata"/><Relationship Id="rId22" Type="http://schemas.openxmlformats.org/officeDocument/2006/relationships/slide" Target="slides/slide17.xml"/><Relationship Id="rId21" Type="http://schemas.openxmlformats.org/officeDocument/2006/relationships/slide" Target="slides/slide16.xml"/><Relationship Id="rId43" Type="http://schemas.openxmlformats.org/officeDocument/2006/relationships/font" Target="fonts/RobotoMono-boldItalic.fntdata"/><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24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24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24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24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24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24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24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24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24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24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24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24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24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24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24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24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24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24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24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24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24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24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24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24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CA"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6" name="Google Shape;66;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 name="Google Shape;67;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CA"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c247d6783e_0_10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c247d6783e_0_10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rPr lang="en-CA"/>
              <a:t>Let us start with the data preprocessing. The first thing we can observe is that 75% of the cabin data and a small </a:t>
            </a:r>
            <a:r>
              <a:rPr lang="en-CA"/>
              <a:t>proportion</a:t>
            </a:r>
            <a:r>
              <a:rPr lang="en-CA"/>
              <a:t> of the age data is missing. Therefore, we created two new columns, cabin_missing and age_missing to mark the missing data. From the histogram, we also observed that the age data is almost normally distributed, therefore, we also fill the missing value with mean(age)</a:t>
            </a:r>
            <a:endParaRPr/>
          </a:p>
        </p:txBody>
      </p:sp>
      <p:sp>
        <p:nvSpPr>
          <p:cNvPr id="74" name="Google Shape;74;g3c247d6783e_0_105: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CA"/>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c247d6783e_0_1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c247d6783e_0_1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rPr lang="en-CA"/>
              <a:t>We also observed that Fare, Fare per Person, Age Fare Ratio data are extremely right skewed. So we take the log of these data and </a:t>
            </a:r>
            <a:r>
              <a:rPr lang="en-CA"/>
              <a:t>attempt</a:t>
            </a:r>
            <a:r>
              <a:rPr lang="en-CA"/>
              <a:t> to normalize them.</a:t>
            </a:r>
            <a:endParaRPr/>
          </a:p>
        </p:txBody>
      </p:sp>
      <p:sp>
        <p:nvSpPr>
          <p:cNvPr id="83" name="Google Shape;83;g3c247d6783e_0_114: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CA"/>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c247d6783e_0_1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c247d6783e_0_1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rPr lang="en-CA"/>
              <a:t>From the data, we see that there is already a summary data cabin_score for all the cabin information, given that the cabin data is mostly NA, we decided to use the cabin_score together with cabin_missing as our predictors for cabin. Since these two columns are the only one without missing information and having too many cabin predictors may cause </a:t>
            </a:r>
            <a:r>
              <a:rPr lang="en-CA"/>
              <a:t>multicollinearity</a:t>
            </a:r>
            <a:r>
              <a:rPr lang="en-CA"/>
              <a:t>.</a:t>
            </a:r>
            <a:endParaRPr/>
          </a:p>
          <a:p>
            <a:pPr indent="0" lvl="0" marL="0" rtl="0" algn="l">
              <a:spcBef>
                <a:spcPts val="360"/>
              </a:spcBef>
              <a:spcAft>
                <a:spcPts val="0"/>
              </a:spcAft>
              <a:buNone/>
            </a:pPr>
            <a:r>
              <a:rPr lang="en-CA"/>
              <a:t>We also drop the following columns to avoid data leakage and redundancy</a:t>
            </a:r>
            <a:endParaRPr/>
          </a:p>
          <a:p>
            <a:pPr indent="0" lvl="0" marL="0" rtl="0" algn="l">
              <a:spcBef>
                <a:spcPts val="360"/>
              </a:spcBef>
              <a:spcAft>
                <a:spcPts val="0"/>
              </a:spcAft>
              <a:buNone/>
            </a:pPr>
            <a:r>
              <a:rPr lang="en-CA"/>
              <a:t>However, we decided to keep both title and title_group, since we are not sure whether it is correct to group all the other title into one single group.</a:t>
            </a:r>
            <a:endParaRPr/>
          </a:p>
        </p:txBody>
      </p:sp>
      <p:sp>
        <p:nvSpPr>
          <p:cNvPr id="93" name="Google Shape;93;g3c247d6783e_0_123: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CA"/>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c247d6783e_0_1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c247d6783e_0_1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rPr lang="en-CA"/>
              <a:t>We then split the data into training and testing dataset, stratified by column Survived.</a:t>
            </a:r>
            <a:endParaRPr/>
          </a:p>
        </p:txBody>
      </p:sp>
      <p:sp>
        <p:nvSpPr>
          <p:cNvPr id="100" name="Google Shape;100;g3c247d6783e_0_131: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CA"/>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c247d6783e_0_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c247d6783e_0_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rPr lang="en-CA"/>
              <a:t>For the first model, we picked logistic regression. </a:t>
            </a:r>
            <a:r>
              <a:rPr lang="en-CA"/>
              <a:t>B</a:t>
            </a:r>
            <a:r>
              <a:rPr lang="en-CA"/>
              <a:t>ecause it is well suited for binary outcomes, provides interpretable coefficients through odds ratios, performs reliably on small-to-moderate sample sizes, and supports formal statistical inference.</a:t>
            </a:r>
            <a:endParaRPr/>
          </a:p>
        </p:txBody>
      </p:sp>
      <p:sp>
        <p:nvSpPr>
          <p:cNvPr id="107" name="Google Shape;107;g3c247d6783e_0_17: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CA"/>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c247d6783e_0_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c247d6783e_0_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rPr lang="en-CA"/>
              <a:t>We first start from a full model, and iteratively remove predictors. The selection of which predictor to remove is based on cross-validated AIC, this balances the model fit and complexity.</a:t>
            </a:r>
            <a:endParaRPr/>
          </a:p>
        </p:txBody>
      </p:sp>
      <p:sp>
        <p:nvSpPr>
          <p:cNvPr id="114" name="Google Shape;114;g3c247d6783e_0_24: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CA"/>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c247d6783e_0_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c247d6783e_0_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rPr lang="en-CA"/>
              <a:t>For our first try, we included all the predictors, from the upper right, we can see the CV-AIC slowly decreasing, and finally gave us the selected variables, Pclass, Age, SibSp, Parch, family_size, and sex.</a:t>
            </a:r>
            <a:endParaRPr/>
          </a:p>
        </p:txBody>
      </p:sp>
      <p:sp>
        <p:nvSpPr>
          <p:cNvPr id="122" name="Google Shape;122;g3c247d6783e_0_32: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CA"/>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c247d6783e_0_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c247d6783e_0_4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rPr lang="en-CA"/>
              <a:t>We use it to predict the testing dataset, and achieved an accuracy rate of 78%, but can we do better than that?</a:t>
            </a:r>
            <a:endParaRPr/>
          </a:p>
        </p:txBody>
      </p:sp>
      <p:sp>
        <p:nvSpPr>
          <p:cNvPr id="132" name="Google Shape;132;g3c247d6783e_0_42: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CA"/>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c247d6783e_0_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c247d6783e_0_5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rPr lang="en-CA"/>
              <a:t>Let’s take a look at the misclassified data, we observed that 6 out of 24 passengers titled Master were misclassified. This makes sense, since we are predicting on sex, which implies that Male passengers are unlikely to survive. However, these Master titled passengers are usually little boys with high social status. Making them more likely to survive.</a:t>
            </a:r>
            <a:endParaRPr/>
          </a:p>
        </p:txBody>
      </p:sp>
      <p:sp>
        <p:nvSpPr>
          <p:cNvPr id="140" name="Google Shape;140;g3c247d6783e_0_5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CA"/>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c247d6783e_0_5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c247d6783e_0_5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rPr lang="en-CA"/>
              <a:t>So for our second try, we added a new column Master and retrain the model</a:t>
            </a:r>
            <a:endParaRPr/>
          </a:p>
        </p:txBody>
      </p:sp>
      <p:sp>
        <p:nvSpPr>
          <p:cNvPr id="148" name="Google Shape;148;g3c247d6783e_0_58: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CA"/>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c247d6783e_0_6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c247d6783e_0_6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rPr lang="en-CA"/>
              <a:t>This time, we achieved an almost 83% accuracy rate</a:t>
            </a:r>
            <a:endParaRPr/>
          </a:p>
        </p:txBody>
      </p:sp>
      <p:sp>
        <p:nvSpPr>
          <p:cNvPr id="157" name="Google Shape;157;g3c247d6783e_0_66: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CA"/>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c247d6783e_0_8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c247d6783e_0_8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rPr lang="en-CA"/>
              <a:t>However, we can see that usually for family </a:t>
            </a:r>
            <a:r>
              <a:rPr lang="en-CA"/>
              <a:t>sibling</a:t>
            </a:r>
            <a:r>
              <a:rPr lang="en-CA"/>
              <a:t> and spouse + parent and children number is highly correlated to the total family_size, we certainly don’t want to have all 3 of them, this will may </a:t>
            </a:r>
            <a:r>
              <a:rPr lang="en-CA"/>
              <a:t>multicollinearity</a:t>
            </a:r>
            <a:r>
              <a:rPr lang="en-CA"/>
              <a:t>. Let’s try to remove the family_size a retrain the model. The good news is, this time, not only family size is removed, but also the parent and children column is removed. Leaving us with only 4 predictors.</a:t>
            </a:r>
            <a:endParaRPr/>
          </a:p>
        </p:txBody>
      </p:sp>
      <p:sp>
        <p:nvSpPr>
          <p:cNvPr id="165" name="Google Shape;165;g3c247d6783e_0_8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CA"/>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c247d6783e_0_8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c247d6783e_0_8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rPr lang="en-CA"/>
              <a:t>After removing the predictors, we are happy to find out that the accuracy rate has not changed, which means that we have found a simple and accurate model.</a:t>
            </a:r>
            <a:endParaRPr/>
          </a:p>
        </p:txBody>
      </p:sp>
      <p:sp>
        <p:nvSpPr>
          <p:cNvPr id="173" name="Google Shape;173;g3c247d6783e_0_88: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CA"/>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c247d6783e_0_9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c247d6783e_0_9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rPr lang="en-CA"/>
              <a:t>So here is our final model for logistic regression. If you are female, is class 1, don not have </a:t>
            </a:r>
            <a:r>
              <a:rPr lang="en-CA"/>
              <a:t>sibling</a:t>
            </a:r>
            <a:r>
              <a:rPr lang="en-CA"/>
              <a:t> or spouse or you are a little boy titled master, you are more likely to survive.</a:t>
            </a:r>
            <a:endParaRPr/>
          </a:p>
        </p:txBody>
      </p:sp>
      <p:sp>
        <p:nvSpPr>
          <p:cNvPr id="182" name="Google Shape;182;g3c247d6783e_0_97: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CA"/>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c1e1d23f20_0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89" name="Google Shape;189;g3c1e1d23f20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c2b96bd34a_1_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95" name="Google Shape;195;g3c2b96bd34a_1_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c2b96bd34a_1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01" name="Google Shape;201;g3c2b96bd34a_1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c1e1d23f20_0_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07" name="Google Shape;207;g3c1e1d23f20_0_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c1e1d23f20_0_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13" name="Google Shape;213;g3c1e1d23f20_0_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c279c73242_0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21" name="Google Shape;221;g3c279c73242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c2b96bd34a_1_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28" name="Google Shape;228;g3c2b96bd34a_1_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c1e1d23f20_0_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34" name="Google Shape;234;g3c1e1d23f20_0_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c1e1d23f20_0_4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40" name="Google Shape;240;g3c1e1d23f20_0_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c1e1d23f20_0_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46" name="Google Shape;246;g3c1e1d23f20_0_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c1e1d23f20_0_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53" name="Google Shape;253;g3c1e1d23f20_0_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c247d6783e_0_14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59" name="Google Shape;259;g3c247d6783e_0_1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bc9a9857b2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3bc9a9857b2_0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rPr lang="en-CA" sz="1100">
                <a:latin typeface="Arial"/>
                <a:ea typeface="Arial"/>
                <a:cs typeface="Arial"/>
                <a:sym typeface="Arial"/>
              </a:rPr>
              <a:t>Hi, I’ll be covering our K-Nearest Neighbors model. We chose KNN because it captures non-linear patterns well without making complex assumptions about the data.</a:t>
            </a:r>
            <a:endParaRPr/>
          </a:p>
        </p:txBody>
      </p:sp>
      <p:sp>
        <p:nvSpPr>
          <p:cNvPr id="266" name="Google Shape;266;g3bc9a9857b2_0_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CA"/>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bc9a9857b2_0_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3bc9a9857b2_0_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74" name="Google Shape;274;g3bc9a9857b2_0_11: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CA"/>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bc9a9857b2_0_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3bc9a9857b2_0_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rPr lang="en-CA" sz="1100">
                <a:latin typeface="Arial"/>
                <a:ea typeface="Arial"/>
                <a:cs typeface="Arial"/>
                <a:sym typeface="Arial"/>
              </a:rPr>
              <a:t>biggest focus here was </a:t>
            </a:r>
            <a:r>
              <a:rPr b="1" lang="en-CA" sz="1100">
                <a:latin typeface="Arial"/>
                <a:ea typeface="Arial"/>
                <a:cs typeface="Arial"/>
                <a:sym typeface="Arial"/>
              </a:rPr>
              <a:t>Feature Engineering</a:t>
            </a:r>
            <a:r>
              <a:rPr lang="en-CA" sz="1100">
                <a:latin typeface="Arial"/>
                <a:ea typeface="Arial"/>
                <a:cs typeface="Arial"/>
                <a:sym typeface="Arial"/>
              </a:rPr>
              <a:t>. We didn't just use raw data; we created 12 specific features. For example, we used </a:t>
            </a:r>
            <a:r>
              <a:rPr b="1" lang="en-CA" sz="1100">
                <a:latin typeface="Arial"/>
                <a:ea typeface="Arial"/>
                <a:cs typeface="Arial"/>
                <a:sym typeface="Arial"/>
              </a:rPr>
              <a:t>Log Transformations</a:t>
            </a:r>
            <a:r>
              <a:rPr lang="en-CA" sz="1100">
                <a:latin typeface="Arial"/>
                <a:ea typeface="Arial"/>
                <a:cs typeface="Arial"/>
                <a:sym typeface="Arial"/>
              </a:rPr>
              <a:t> on 'Fare' because the data was highly skewed, and we created binary flags like </a:t>
            </a:r>
            <a:r>
              <a:rPr lang="en-CA" sz="1100">
                <a:solidFill>
                  <a:srgbClr val="188038"/>
                </a:solidFill>
                <a:latin typeface="Roboto Mono"/>
                <a:ea typeface="Roboto Mono"/>
                <a:cs typeface="Roboto Mono"/>
                <a:sym typeface="Roboto Mono"/>
              </a:rPr>
              <a:t>is_child</a:t>
            </a:r>
            <a:r>
              <a:rPr lang="en-CA" sz="1100">
                <a:latin typeface="Arial"/>
                <a:ea typeface="Arial"/>
                <a:cs typeface="Arial"/>
                <a:sym typeface="Arial"/>
              </a:rPr>
              <a:t> to help the model find vulnerable groups. Crucially, we applied </a:t>
            </a:r>
            <a:r>
              <a:rPr b="1" lang="en-CA" sz="1100">
                <a:latin typeface="Arial"/>
                <a:ea typeface="Arial"/>
                <a:cs typeface="Arial"/>
                <a:sym typeface="Arial"/>
              </a:rPr>
              <a:t>Standard Scaling</a:t>
            </a:r>
            <a:r>
              <a:rPr lang="en-CA" sz="1100">
                <a:latin typeface="Arial"/>
                <a:ea typeface="Arial"/>
                <a:cs typeface="Arial"/>
                <a:sym typeface="Arial"/>
              </a:rPr>
              <a:t> to everything. Since KNN calculates distance, we had to ensure a large number like 'Fare' didn't overpower a small number like 'Age'.</a:t>
            </a:r>
            <a:endParaRPr/>
          </a:p>
        </p:txBody>
      </p:sp>
      <p:sp>
        <p:nvSpPr>
          <p:cNvPr id="280" name="Google Shape;280;g3bc9a9857b2_0_18: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CA"/>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bc9a9857b2_0_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3bc9a9857b2_0_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rPr lang="en-CA" sz="1100">
                <a:latin typeface="Arial"/>
                <a:ea typeface="Arial"/>
                <a:cs typeface="Arial"/>
                <a:sym typeface="Arial"/>
              </a:rPr>
              <a:t>To optimize the model, we used Grid Search to test different configurations.</a:t>
            </a:r>
            <a:endParaRPr sz="1100">
              <a:latin typeface="Arial"/>
              <a:ea typeface="Arial"/>
              <a:cs typeface="Arial"/>
              <a:sym typeface="Arial"/>
            </a:endParaRPr>
          </a:p>
          <a:p>
            <a:pPr indent="0" lvl="0" marL="0" rtl="0" algn="l">
              <a:spcBef>
                <a:spcPts val="360"/>
              </a:spcBef>
              <a:spcAft>
                <a:spcPts val="0"/>
              </a:spcAft>
              <a:buNone/>
            </a:pPr>
            <a:r>
              <a:rPr lang="en-CA" sz="1100">
                <a:latin typeface="Arial"/>
                <a:ea typeface="Arial"/>
                <a:cs typeface="Arial"/>
                <a:sym typeface="Arial"/>
              </a:rPr>
              <a:t> As you can see, the model performed best with </a:t>
            </a:r>
            <a:r>
              <a:rPr b="1" lang="en-CA" sz="1100">
                <a:latin typeface="Arial"/>
                <a:ea typeface="Arial"/>
                <a:cs typeface="Arial"/>
                <a:sym typeface="Arial"/>
              </a:rPr>
              <a:t>19 neighbors</a:t>
            </a:r>
            <a:r>
              <a:rPr lang="en-CA" sz="1100">
                <a:latin typeface="Arial"/>
                <a:ea typeface="Arial"/>
                <a:cs typeface="Arial"/>
                <a:sym typeface="Arial"/>
              </a:rPr>
              <a:t> using </a:t>
            </a:r>
            <a:r>
              <a:rPr b="1" lang="en-CA" sz="1100">
                <a:latin typeface="Arial"/>
                <a:ea typeface="Arial"/>
                <a:cs typeface="Arial"/>
                <a:sym typeface="Arial"/>
              </a:rPr>
              <a:t>Euclidean distance</a:t>
            </a:r>
            <a:r>
              <a:rPr lang="en-CA" sz="1100">
                <a:latin typeface="Arial"/>
                <a:ea typeface="Arial"/>
                <a:cs typeface="Arial"/>
                <a:sym typeface="Arial"/>
              </a:rPr>
              <a:t> and uniform weights. This achieved a validation accuracy of </a:t>
            </a:r>
            <a:r>
              <a:rPr b="1" lang="en-CA" sz="1100">
                <a:latin typeface="Arial"/>
                <a:ea typeface="Arial"/>
                <a:cs typeface="Arial"/>
                <a:sym typeface="Arial"/>
              </a:rPr>
              <a:t>82.77%</a:t>
            </a:r>
            <a:r>
              <a:rPr lang="en-CA" sz="1100">
                <a:latin typeface="Arial"/>
                <a:ea typeface="Arial"/>
                <a:cs typeface="Arial"/>
                <a:sym typeface="Arial"/>
              </a:rPr>
              <a:t>.</a:t>
            </a:r>
            <a:endParaRPr sz="1100">
              <a:latin typeface="Arial"/>
              <a:ea typeface="Arial"/>
              <a:cs typeface="Arial"/>
              <a:sym typeface="Arial"/>
            </a:endParaRPr>
          </a:p>
          <a:p>
            <a:pPr indent="0" lvl="0" marL="0" rtl="0" algn="l">
              <a:spcBef>
                <a:spcPts val="360"/>
              </a:spcBef>
              <a:spcAft>
                <a:spcPts val="0"/>
              </a:spcAft>
              <a:buNone/>
            </a:pPr>
            <a:r>
              <a:rPr lang="en-CA" sz="1100">
                <a:latin typeface="Arial"/>
                <a:ea typeface="Arial"/>
                <a:cs typeface="Arial"/>
                <a:sym typeface="Arial"/>
              </a:rPr>
              <a:t> We found that since we rigorously scaled our data using the Standard Scaler, the standard Euclidean (straight-line) distance was actually more effective than Manhattan distance for identifying these survival clusters.</a:t>
            </a:r>
            <a:endParaRPr/>
          </a:p>
        </p:txBody>
      </p:sp>
      <p:sp>
        <p:nvSpPr>
          <p:cNvPr id="287" name="Google Shape;287;g3bc9a9857b2_0_26: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CA"/>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bc9a9857b2_0_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3bc9a9857b2_0_4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rPr lang="en-CA"/>
              <a:t>While our accuracy is 80.7%, this matrix reveals our model is 'conservative'—it rarely gives false alarms (False Positives) but occasionally misses a survivor (False Negatives). This proves the model is reliable and not just guessing.</a:t>
            </a:r>
            <a:endParaRPr/>
          </a:p>
        </p:txBody>
      </p:sp>
      <p:sp>
        <p:nvSpPr>
          <p:cNvPr id="296" name="Google Shape;296;g3bc9a9857b2_0_47: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CA"/>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bc9a9857b2_0_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3bc9a9857b2_0_3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rPr lang="en-CA" sz="1100">
                <a:latin typeface="Arial"/>
                <a:ea typeface="Arial"/>
                <a:cs typeface="Arial"/>
                <a:sym typeface="Arial"/>
              </a:rPr>
              <a:t>to conclude,  model achieved an </a:t>
            </a:r>
            <a:r>
              <a:rPr b="1" lang="en-CA" sz="1100">
                <a:latin typeface="Arial"/>
                <a:ea typeface="Arial"/>
                <a:cs typeface="Arial"/>
                <a:sym typeface="Arial"/>
              </a:rPr>
              <a:t>AUC score of 0.85</a:t>
            </a:r>
            <a:r>
              <a:rPr lang="en-CA" sz="1100">
                <a:latin typeface="Arial"/>
                <a:ea typeface="Arial"/>
                <a:cs typeface="Arial"/>
                <a:sym typeface="Arial"/>
              </a:rPr>
              <a:t>, which confirms it is highly reliable.</a:t>
            </a:r>
            <a:endParaRPr sz="1100">
              <a:latin typeface="Arial"/>
              <a:ea typeface="Arial"/>
              <a:cs typeface="Arial"/>
              <a:sym typeface="Arial"/>
            </a:endParaRPr>
          </a:p>
          <a:p>
            <a:pPr indent="0" lvl="0" marL="0" rtl="0" algn="l">
              <a:spcBef>
                <a:spcPts val="360"/>
              </a:spcBef>
              <a:spcAft>
                <a:spcPts val="0"/>
              </a:spcAft>
              <a:buNone/>
            </a:pPr>
            <a:r>
              <a:rPr lang="en-CA" sz="1100">
                <a:latin typeface="Arial"/>
                <a:ea typeface="Arial"/>
                <a:cs typeface="Arial"/>
                <a:sym typeface="Arial"/>
              </a:rPr>
              <a:t> The curve hugging the top-left corner shows we have a high detection rate for survivors without raising too many false alarms. </a:t>
            </a:r>
            <a:endParaRPr sz="1100">
              <a:latin typeface="Arial"/>
              <a:ea typeface="Arial"/>
              <a:cs typeface="Arial"/>
              <a:sym typeface="Arial"/>
            </a:endParaRPr>
          </a:p>
          <a:p>
            <a:pPr indent="0" lvl="0" marL="0" rtl="0" algn="l">
              <a:spcBef>
                <a:spcPts val="360"/>
              </a:spcBef>
              <a:spcAft>
                <a:spcPts val="0"/>
              </a:spcAft>
              <a:buNone/>
            </a:pPr>
            <a:r>
              <a:rPr lang="en-CA" sz="1100">
                <a:latin typeface="Arial"/>
                <a:ea typeface="Arial"/>
                <a:cs typeface="Arial"/>
                <a:sym typeface="Arial"/>
              </a:rPr>
              <a:t>While KNN is computationally expensive for massive datasets, for the Titanic problem, it proved to be an excellent baseline.</a:t>
            </a:r>
            <a:endParaRPr sz="1100">
              <a:latin typeface="Arial"/>
              <a:ea typeface="Arial"/>
              <a:cs typeface="Arial"/>
              <a:sym typeface="Arial"/>
            </a:endParaRPr>
          </a:p>
          <a:p>
            <a:pPr indent="0" lvl="0" marL="0" rtl="0" algn="l">
              <a:spcBef>
                <a:spcPts val="360"/>
              </a:spcBef>
              <a:spcAft>
                <a:spcPts val="0"/>
              </a:spcAft>
              <a:buNone/>
            </a:pPr>
            <a:r>
              <a:t/>
            </a:r>
            <a:endParaRPr/>
          </a:p>
        </p:txBody>
      </p:sp>
      <p:sp>
        <p:nvSpPr>
          <p:cNvPr id="304" name="Google Shape;304;g3bc9a9857b2_0_37: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CA"/>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c2ea735770_1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3c2ea735770_1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12" name="Google Shape;312;g3c2ea735770_1_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CA"/>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 Id="rId3" Type="http://schemas.openxmlformats.org/officeDocument/2006/relationships/image" Target="../media/image19.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 2">
  <p:cSld name="1_Title Slide - 2">
    <p:spTree>
      <p:nvGrpSpPr>
        <p:cNvPr id="10" name="Shape 10"/>
        <p:cNvGrpSpPr/>
        <p:nvPr/>
      </p:nvGrpSpPr>
      <p:grpSpPr>
        <a:xfrm>
          <a:off x="0" y="0"/>
          <a:ext cx="0" cy="0"/>
          <a:chOff x="0" y="0"/>
          <a:chExt cx="0" cy="0"/>
        </a:xfrm>
      </p:grpSpPr>
      <p:pic>
        <p:nvPicPr>
          <p:cNvPr descr="2015_Hover_Aerials_Okanagan_6389-6.JPG" id="11" name="Google Shape;11;p2"/>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12" name="Google Shape;12;p2"/>
          <p:cNvSpPr/>
          <p:nvPr/>
        </p:nvSpPr>
        <p:spPr>
          <a:xfrm>
            <a:off x="8243889" y="1131889"/>
            <a:ext cx="900112" cy="1131887"/>
          </a:xfrm>
          <a:prstGeom prst="rect">
            <a:avLst/>
          </a:prstGeom>
          <a:solidFill>
            <a:srgbClr val="FFFFFF">
              <a:alpha val="74901"/>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3" name="Google Shape;13;p2"/>
          <p:cNvSpPr/>
          <p:nvPr/>
        </p:nvSpPr>
        <p:spPr>
          <a:xfrm>
            <a:off x="-107950" y="1131888"/>
            <a:ext cx="6122988" cy="2735262"/>
          </a:xfrm>
          <a:prstGeom prst="rect">
            <a:avLst/>
          </a:prstGeom>
          <a:solidFill>
            <a:srgbClr val="FFFFFF">
              <a:alpha val="6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descr="s4b282c2015.png" id="14" name="Google Shape;14;p2"/>
          <p:cNvPicPr preferRelativeResize="0"/>
          <p:nvPr/>
        </p:nvPicPr>
        <p:blipFill rotWithShape="1">
          <a:blip r:embed="rId3">
            <a:alphaModFix/>
          </a:blip>
          <a:srcRect b="0" l="0" r="0" t="0"/>
          <a:stretch/>
        </p:blipFill>
        <p:spPr>
          <a:xfrm>
            <a:off x="8513764" y="1439863"/>
            <a:ext cx="363537" cy="493712"/>
          </a:xfrm>
          <a:prstGeom prst="rect">
            <a:avLst/>
          </a:prstGeom>
          <a:noFill/>
          <a:ln>
            <a:noFill/>
          </a:ln>
        </p:spPr>
      </p:pic>
      <p:sp>
        <p:nvSpPr>
          <p:cNvPr id="15" name="Google Shape;15;p2"/>
          <p:cNvSpPr txBox="1"/>
          <p:nvPr>
            <p:ph idx="1" type="body"/>
          </p:nvPr>
        </p:nvSpPr>
        <p:spPr>
          <a:xfrm>
            <a:off x="365588" y="1332646"/>
            <a:ext cx="5430376" cy="1671152"/>
          </a:xfrm>
          <a:prstGeom prst="rect">
            <a:avLst/>
          </a:prstGeom>
          <a:noFill/>
          <a:ln>
            <a:noFill/>
          </a:ln>
        </p:spPr>
        <p:txBody>
          <a:bodyPr anchorCtr="0" anchor="t" bIns="0" lIns="0" spcFirstLastPara="1" rIns="0" wrap="square" tIns="0">
            <a:noAutofit/>
          </a:bodyPr>
          <a:lstStyle>
            <a:lvl1pPr indent="-228600" lvl="0" marL="457200" marR="0" rtl="0" algn="l">
              <a:lnSpc>
                <a:spcPct val="111764"/>
              </a:lnSpc>
              <a:spcBef>
                <a:spcPts val="0"/>
              </a:spcBef>
              <a:spcAft>
                <a:spcPts val="0"/>
              </a:spcAft>
              <a:buClr>
                <a:schemeClr val="dk1"/>
              </a:buClr>
              <a:buSzPts val="3400"/>
              <a:buFont typeface="Arial"/>
              <a:buNone/>
              <a:defRPr b="1" i="0" sz="3400" u="none" cap="none" strike="noStrike">
                <a:solidFill>
                  <a:schemeClr val="dk1"/>
                </a:solidFill>
                <a:latin typeface="Arial"/>
                <a:ea typeface="Arial"/>
                <a:cs typeface="Arial"/>
                <a:sym typeface="Arial"/>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6" name="Google Shape;16;p2"/>
          <p:cNvSpPr txBox="1"/>
          <p:nvPr>
            <p:ph idx="2" type="body"/>
          </p:nvPr>
        </p:nvSpPr>
        <p:spPr>
          <a:xfrm>
            <a:off x="365761" y="3003798"/>
            <a:ext cx="5430203" cy="321394"/>
          </a:xfrm>
          <a:prstGeom prst="rect">
            <a:avLst/>
          </a:prstGeom>
          <a:noFill/>
          <a:ln>
            <a:noFill/>
          </a:ln>
        </p:spPr>
        <p:txBody>
          <a:bodyPr anchorCtr="0" anchor="t" bIns="0" lIns="0" spcFirstLastPara="1" rIns="0" wrap="square" tIns="0">
            <a:noAutofit/>
          </a:bodyPr>
          <a:lstStyle>
            <a:lvl1pPr indent="-228600" lvl="0" marL="457200" marR="0" rtl="0" algn="l">
              <a:spcBef>
                <a:spcPts val="36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1pPr>
            <a:lvl2pPr indent="-285750" lvl="1" marL="914400" marR="0" rtl="0" algn="l">
              <a:spcBef>
                <a:spcPts val="18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2pPr>
            <a:lvl3pPr indent="-285750" lvl="2" marL="1371600" marR="0" rtl="0" algn="l">
              <a:spcBef>
                <a:spcPts val="18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3pPr>
            <a:lvl4pPr indent="-285750" lvl="3" marL="1828800" marR="0" rtl="0" algn="l">
              <a:spcBef>
                <a:spcPts val="18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4pPr>
            <a:lvl5pPr indent="-285750" lvl="4" marL="2286000" marR="0" rtl="0" algn="l">
              <a:spcBef>
                <a:spcPts val="18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7" name="Google Shape;17;p2"/>
          <p:cNvSpPr txBox="1"/>
          <p:nvPr>
            <p:ph idx="3" type="body"/>
          </p:nvPr>
        </p:nvSpPr>
        <p:spPr>
          <a:xfrm>
            <a:off x="365761" y="3507855"/>
            <a:ext cx="5430203" cy="321394"/>
          </a:xfrm>
          <a:prstGeom prst="rect">
            <a:avLst/>
          </a:prstGeom>
          <a:noFill/>
          <a:ln>
            <a:noFill/>
          </a:ln>
        </p:spPr>
        <p:txBody>
          <a:bodyPr anchorCtr="0" anchor="t" bIns="0" lIns="0" spcFirstLastPara="1" rIns="0" wrap="square" tIns="0">
            <a:noAutofit/>
          </a:bodyPr>
          <a:lstStyle>
            <a:lvl1pPr indent="-228600" lvl="0" marL="457200" marR="0" rtl="0" algn="l">
              <a:spcBef>
                <a:spcPts val="200"/>
              </a:spcBef>
              <a:spcAft>
                <a:spcPts val="0"/>
              </a:spcAft>
              <a:buClr>
                <a:srgbClr val="0C2344"/>
              </a:buClr>
              <a:buSzPts val="1000"/>
              <a:buFont typeface="Arial"/>
              <a:buNone/>
              <a:defRPr b="1" i="0" sz="1000" u="none" cap="none" strike="noStrike">
                <a:solidFill>
                  <a:srgbClr val="0C2344"/>
                </a:solidFill>
                <a:latin typeface="Arial"/>
                <a:ea typeface="Arial"/>
                <a:cs typeface="Arial"/>
                <a:sym typeface="Arial"/>
              </a:defRPr>
            </a:lvl1pPr>
            <a:lvl2pPr indent="-285750" lvl="1" marL="914400" marR="0" rtl="0" algn="l">
              <a:spcBef>
                <a:spcPts val="18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2pPr>
            <a:lvl3pPr indent="-285750" lvl="2" marL="1371600" marR="0" rtl="0" algn="l">
              <a:spcBef>
                <a:spcPts val="18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3pPr>
            <a:lvl4pPr indent="-285750" lvl="3" marL="1828800" marR="0" rtl="0" algn="l">
              <a:spcBef>
                <a:spcPts val="18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4pPr>
            <a:lvl5pPr indent="-285750" lvl="4" marL="2286000" marR="0" rtl="0" algn="l">
              <a:spcBef>
                <a:spcPts val="18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Slide - 2">
  <p:cSld name="Subsection Slide - 2">
    <p:spTree>
      <p:nvGrpSpPr>
        <p:cNvPr id="18" name="Shape 18"/>
        <p:cNvGrpSpPr/>
        <p:nvPr/>
      </p:nvGrpSpPr>
      <p:grpSpPr>
        <a:xfrm>
          <a:off x="0" y="0"/>
          <a:ext cx="0" cy="0"/>
          <a:chOff x="0" y="0"/>
          <a:chExt cx="0" cy="0"/>
        </a:xfrm>
      </p:grpSpPr>
      <p:sp>
        <p:nvSpPr>
          <p:cNvPr id="19" name="Google Shape;19;p3"/>
          <p:cNvSpPr txBox="1"/>
          <p:nvPr/>
        </p:nvSpPr>
        <p:spPr>
          <a:xfrm flipH="1">
            <a:off x="8588375" y="4732338"/>
            <a:ext cx="304800" cy="192087"/>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FFFFFF"/>
              </a:buClr>
              <a:buSzPts val="900"/>
              <a:buFont typeface="Arial"/>
              <a:buNone/>
            </a:pPr>
            <a:fld id="{00000000-1234-1234-1234-123412341234}" type="slidenum">
              <a:rPr b="0" i="0" lang="en-CA" sz="900" u="none" cap="none" strike="noStrike">
                <a:solidFill>
                  <a:srgbClr val="FFFFFF"/>
                </a:solidFill>
                <a:latin typeface="Arial"/>
                <a:ea typeface="Arial"/>
                <a:cs typeface="Arial"/>
                <a:sym typeface="Arial"/>
              </a:rPr>
              <a:t>‹#›</a:t>
            </a:fld>
            <a:endParaRPr b="0" i="0" sz="900" u="none" cap="none" strike="noStrike">
              <a:solidFill>
                <a:srgbClr val="FFFFFF"/>
              </a:solidFill>
              <a:latin typeface="Arial"/>
              <a:ea typeface="Arial"/>
              <a:cs typeface="Arial"/>
              <a:sym typeface="Arial"/>
            </a:endParaRPr>
          </a:p>
        </p:txBody>
      </p:sp>
      <p:sp>
        <p:nvSpPr>
          <p:cNvPr id="20" name="Google Shape;20;p3"/>
          <p:cNvSpPr/>
          <p:nvPr/>
        </p:nvSpPr>
        <p:spPr>
          <a:xfrm>
            <a:off x="8243888" y="1131888"/>
            <a:ext cx="900112" cy="1131887"/>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lt1"/>
              </a:solidFill>
              <a:latin typeface="Arial"/>
              <a:ea typeface="Arial"/>
              <a:cs typeface="Arial"/>
              <a:sym typeface="Arial"/>
            </a:endParaRPr>
          </a:p>
        </p:txBody>
      </p:sp>
      <p:pic>
        <p:nvPicPr>
          <p:cNvPr descr="2014_logo_only_reverse.png" id="21" name="Google Shape;21;p3"/>
          <p:cNvPicPr preferRelativeResize="0"/>
          <p:nvPr/>
        </p:nvPicPr>
        <p:blipFill rotWithShape="1">
          <a:blip r:embed="rId2">
            <a:alphaModFix/>
          </a:blip>
          <a:srcRect b="0" l="0" r="0" t="0"/>
          <a:stretch/>
        </p:blipFill>
        <p:spPr>
          <a:xfrm>
            <a:off x="8485188" y="1419225"/>
            <a:ext cx="407987" cy="514350"/>
          </a:xfrm>
          <a:prstGeom prst="rect">
            <a:avLst/>
          </a:prstGeom>
          <a:noFill/>
          <a:ln>
            <a:noFill/>
          </a:ln>
        </p:spPr>
      </p:pic>
      <p:sp>
        <p:nvSpPr>
          <p:cNvPr id="22" name="Google Shape;22;p3"/>
          <p:cNvSpPr txBox="1"/>
          <p:nvPr>
            <p:ph type="title"/>
          </p:nvPr>
        </p:nvSpPr>
        <p:spPr>
          <a:xfrm>
            <a:off x="368414" y="1131887"/>
            <a:ext cx="7886700" cy="1131887"/>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1" i="0" sz="2800" u="none" cap="none" strike="noStrike">
                <a:solidFill>
                  <a:srgbClr val="1F8FFF"/>
                </a:solidFill>
                <a:latin typeface="Arial"/>
                <a:ea typeface="Arial"/>
                <a:cs typeface="Arial"/>
                <a:sym typeface="Arial"/>
              </a:defRPr>
            </a:lvl1pPr>
            <a:lvl2pPr lvl="1"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2pPr>
            <a:lvl3pPr lvl="2"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3pPr>
            <a:lvl4pPr lvl="3"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4pPr>
            <a:lvl5pPr lvl="4"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5pPr>
            <a:lvl6pPr lvl="5"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6pPr>
            <a:lvl7pPr lvl="6"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7pPr>
            <a:lvl8pPr lvl="7"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8pPr>
            <a:lvl9pPr lvl="8"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py Slide - 1">
  <p:cSld name="Copy Slide - 1">
    <p:spTree>
      <p:nvGrpSpPr>
        <p:cNvPr id="23" name="Shape 23"/>
        <p:cNvGrpSpPr/>
        <p:nvPr/>
      </p:nvGrpSpPr>
      <p:grpSpPr>
        <a:xfrm>
          <a:off x="0" y="0"/>
          <a:ext cx="0" cy="0"/>
          <a:chOff x="0" y="0"/>
          <a:chExt cx="0" cy="0"/>
        </a:xfrm>
      </p:grpSpPr>
      <p:pic>
        <p:nvPicPr>
          <p:cNvPr descr="s4b282c2015.png" id="24" name="Google Shape;24;p4"/>
          <p:cNvPicPr preferRelativeResize="0"/>
          <p:nvPr/>
        </p:nvPicPr>
        <p:blipFill rotWithShape="1">
          <a:blip r:embed="rId2">
            <a:alphaModFix/>
          </a:blip>
          <a:srcRect b="0" l="0" r="0" t="0"/>
          <a:stretch/>
        </p:blipFill>
        <p:spPr>
          <a:xfrm>
            <a:off x="8513763" y="1439863"/>
            <a:ext cx="363537" cy="493712"/>
          </a:xfrm>
          <a:prstGeom prst="rect">
            <a:avLst/>
          </a:prstGeom>
          <a:noFill/>
          <a:ln>
            <a:noFill/>
          </a:ln>
        </p:spPr>
      </p:pic>
      <p:sp>
        <p:nvSpPr>
          <p:cNvPr id="25" name="Google Shape;25;p4"/>
          <p:cNvSpPr txBox="1"/>
          <p:nvPr/>
        </p:nvSpPr>
        <p:spPr>
          <a:xfrm flipH="1">
            <a:off x="8588375" y="4732338"/>
            <a:ext cx="304800" cy="192087"/>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chemeClr val="dk1"/>
              </a:buClr>
              <a:buSzPts val="900"/>
              <a:buFont typeface="Arial"/>
              <a:buNone/>
            </a:pPr>
            <a:fld id="{00000000-1234-1234-1234-123412341234}" type="slidenum">
              <a:rPr lang="en-CA" sz="900">
                <a:solidFill>
                  <a:schemeClr val="dk1"/>
                </a:solidFill>
                <a:latin typeface="Arial"/>
                <a:ea typeface="Arial"/>
                <a:cs typeface="Arial"/>
                <a:sym typeface="Arial"/>
              </a:rPr>
              <a:t>‹#›</a:t>
            </a:fld>
            <a:endParaRPr sz="900">
              <a:solidFill>
                <a:schemeClr val="dk1"/>
              </a:solidFill>
              <a:latin typeface="Arial"/>
              <a:ea typeface="Arial"/>
              <a:cs typeface="Arial"/>
              <a:sym typeface="Arial"/>
            </a:endParaRPr>
          </a:p>
        </p:txBody>
      </p:sp>
      <p:sp>
        <p:nvSpPr>
          <p:cNvPr id="26" name="Google Shape;26;p4"/>
          <p:cNvSpPr txBox="1"/>
          <p:nvPr>
            <p:ph idx="1" type="body"/>
          </p:nvPr>
        </p:nvSpPr>
        <p:spPr>
          <a:xfrm>
            <a:off x="438954" y="1131888"/>
            <a:ext cx="7661438" cy="3697288"/>
          </a:xfrm>
          <a:prstGeom prst="rect">
            <a:avLst/>
          </a:prstGeom>
          <a:noFill/>
          <a:ln>
            <a:noFill/>
          </a:ln>
        </p:spPr>
        <p:txBody>
          <a:bodyPr anchorCtr="0" anchor="t" bIns="0" lIns="0" spcFirstLastPara="1" rIns="0" wrap="square" tIns="0">
            <a:noAutofit/>
          </a:bodyPr>
          <a:lstStyle>
            <a:lvl1pPr indent="-228600" lvl="0" marL="457200" marR="0" rtl="0" algn="l">
              <a:lnSpc>
                <a:spcPct val="130000"/>
              </a:lnSpc>
              <a:spcBef>
                <a:spcPts val="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1pPr>
            <a:lvl2pPr indent="-323850" lvl="1" marL="914400" marR="0" rtl="0" algn="l">
              <a:lnSpc>
                <a:spcPct val="130000"/>
              </a:lnSpc>
              <a:spcBef>
                <a:spcPts val="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2pPr>
            <a:lvl3pPr indent="-323850" lvl="2" marL="1371600" marR="0" rtl="0" algn="l">
              <a:lnSpc>
                <a:spcPct val="130000"/>
              </a:lnSpc>
              <a:spcBef>
                <a:spcPts val="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23850" lvl="3" marL="1828800" marR="0" rtl="0" algn="l">
              <a:lnSpc>
                <a:spcPct val="130000"/>
              </a:lnSpc>
              <a:spcBef>
                <a:spcPts val="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4pPr>
            <a:lvl5pPr indent="-323850" lvl="4" marL="2286000" marR="0" rtl="0" algn="l">
              <a:lnSpc>
                <a:spcPct val="130000"/>
              </a:lnSpc>
              <a:spcBef>
                <a:spcPts val="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27" name="Google Shape;27;p4"/>
          <p:cNvSpPr txBox="1"/>
          <p:nvPr>
            <p:ph type="title"/>
          </p:nvPr>
        </p:nvSpPr>
        <p:spPr>
          <a:xfrm>
            <a:off x="438954" y="560541"/>
            <a:ext cx="7886700" cy="451716"/>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1" i="0" sz="2100" u="none" cap="none" strike="noStrike">
                <a:solidFill>
                  <a:srgbClr val="1F8FFF"/>
                </a:solidFill>
                <a:latin typeface="Arial"/>
                <a:ea typeface="Arial"/>
                <a:cs typeface="Arial"/>
                <a:sym typeface="Arial"/>
              </a:defRPr>
            </a:lvl1pPr>
            <a:lvl2pPr lvl="1"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2pPr>
            <a:lvl3pPr lvl="2"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3pPr>
            <a:lvl4pPr lvl="3"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4pPr>
            <a:lvl5pPr lvl="4"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5pPr>
            <a:lvl6pPr lvl="5"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6pPr>
            <a:lvl7pPr lvl="6"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7pPr>
            <a:lvl8pPr lvl="7"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8pPr>
            <a:lvl9pPr lvl="8"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1">
  <p:cSld name="Title Slide - 1">
    <p:spTree>
      <p:nvGrpSpPr>
        <p:cNvPr id="28" name="Shape 28"/>
        <p:cNvGrpSpPr/>
        <p:nvPr/>
      </p:nvGrpSpPr>
      <p:grpSpPr>
        <a:xfrm>
          <a:off x="0" y="0"/>
          <a:ext cx="0" cy="0"/>
          <a:chOff x="0" y="0"/>
          <a:chExt cx="0" cy="0"/>
        </a:xfrm>
      </p:grpSpPr>
      <p:sp>
        <p:nvSpPr>
          <p:cNvPr id="29" name="Google Shape;29;p5"/>
          <p:cNvSpPr/>
          <p:nvPr/>
        </p:nvSpPr>
        <p:spPr>
          <a:xfrm>
            <a:off x="8243888" y="1131888"/>
            <a:ext cx="900112" cy="1131887"/>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Arial"/>
              <a:ea typeface="Arial"/>
              <a:cs typeface="Arial"/>
              <a:sym typeface="Arial"/>
            </a:endParaRPr>
          </a:p>
        </p:txBody>
      </p:sp>
      <p:pic>
        <p:nvPicPr>
          <p:cNvPr descr="2014_logo_only_reverse.png" id="30" name="Google Shape;30;p5"/>
          <p:cNvPicPr preferRelativeResize="0"/>
          <p:nvPr/>
        </p:nvPicPr>
        <p:blipFill rotWithShape="1">
          <a:blip r:embed="rId2">
            <a:alphaModFix/>
          </a:blip>
          <a:srcRect b="0" l="0" r="0" t="0"/>
          <a:stretch/>
        </p:blipFill>
        <p:spPr>
          <a:xfrm>
            <a:off x="8485188" y="1419225"/>
            <a:ext cx="407987" cy="514350"/>
          </a:xfrm>
          <a:prstGeom prst="rect">
            <a:avLst/>
          </a:prstGeom>
          <a:noFill/>
          <a:ln>
            <a:noFill/>
          </a:ln>
        </p:spPr>
      </p:pic>
      <p:sp>
        <p:nvSpPr>
          <p:cNvPr id="31" name="Google Shape;31;p5"/>
          <p:cNvSpPr txBox="1"/>
          <p:nvPr>
            <p:ph idx="1" type="body"/>
          </p:nvPr>
        </p:nvSpPr>
        <p:spPr>
          <a:xfrm>
            <a:off x="365762" y="3003798"/>
            <a:ext cx="5430203" cy="321394"/>
          </a:xfrm>
          <a:prstGeom prst="rect">
            <a:avLst/>
          </a:prstGeom>
          <a:noFill/>
          <a:ln>
            <a:noFill/>
          </a:ln>
        </p:spPr>
        <p:txBody>
          <a:bodyPr anchorCtr="0" anchor="t" bIns="0" lIns="0" spcFirstLastPara="1" rIns="0" wrap="square" tIns="0">
            <a:noAutofit/>
          </a:bodyPr>
          <a:lstStyle>
            <a:lvl1pPr indent="-228600" lvl="0" marL="457200" marR="0" rtl="0" algn="l">
              <a:spcBef>
                <a:spcPts val="36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1pPr>
            <a:lvl2pPr indent="-285750" lvl="1" marL="914400" marR="0" rtl="0" algn="l">
              <a:spcBef>
                <a:spcPts val="18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2pPr>
            <a:lvl3pPr indent="-285750" lvl="2" marL="1371600" marR="0" rtl="0" algn="l">
              <a:spcBef>
                <a:spcPts val="18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3pPr>
            <a:lvl4pPr indent="-285750" lvl="3" marL="1828800" marR="0" rtl="0" algn="l">
              <a:spcBef>
                <a:spcPts val="18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4pPr>
            <a:lvl5pPr indent="-285750" lvl="4" marL="2286000" marR="0" rtl="0" algn="l">
              <a:spcBef>
                <a:spcPts val="18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32" name="Google Shape;32;p5"/>
          <p:cNvSpPr txBox="1"/>
          <p:nvPr>
            <p:ph idx="2" type="body"/>
          </p:nvPr>
        </p:nvSpPr>
        <p:spPr>
          <a:xfrm>
            <a:off x="365762" y="3507855"/>
            <a:ext cx="5430203" cy="321394"/>
          </a:xfrm>
          <a:prstGeom prst="rect">
            <a:avLst/>
          </a:prstGeom>
          <a:noFill/>
          <a:ln>
            <a:noFill/>
          </a:ln>
        </p:spPr>
        <p:txBody>
          <a:bodyPr anchorCtr="0" anchor="t" bIns="0" lIns="0" spcFirstLastPara="1" rIns="0" wrap="square" tIns="0">
            <a:noAutofit/>
          </a:bodyPr>
          <a:lstStyle>
            <a:lvl1pPr indent="-228600" lvl="0" marL="457200" marR="0" rtl="0" algn="l">
              <a:spcBef>
                <a:spcPts val="200"/>
              </a:spcBef>
              <a:spcAft>
                <a:spcPts val="0"/>
              </a:spcAft>
              <a:buClr>
                <a:srgbClr val="0C2344"/>
              </a:buClr>
              <a:buSzPts val="1000"/>
              <a:buFont typeface="Arial"/>
              <a:buNone/>
              <a:defRPr b="1" i="0" sz="1000" u="none" cap="none" strike="noStrike">
                <a:solidFill>
                  <a:srgbClr val="0C2344"/>
                </a:solidFill>
                <a:latin typeface="Arial"/>
                <a:ea typeface="Arial"/>
                <a:cs typeface="Arial"/>
                <a:sym typeface="Arial"/>
              </a:defRPr>
            </a:lvl1pPr>
            <a:lvl2pPr indent="-285750" lvl="1" marL="914400" marR="0" rtl="0" algn="l">
              <a:spcBef>
                <a:spcPts val="18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2pPr>
            <a:lvl3pPr indent="-285750" lvl="2" marL="1371600" marR="0" rtl="0" algn="l">
              <a:spcBef>
                <a:spcPts val="18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3pPr>
            <a:lvl4pPr indent="-285750" lvl="3" marL="1828800" marR="0" rtl="0" algn="l">
              <a:spcBef>
                <a:spcPts val="18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4pPr>
            <a:lvl5pPr indent="-285750" lvl="4" marL="2286000" marR="0" rtl="0" algn="l">
              <a:spcBef>
                <a:spcPts val="18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33" name="Google Shape;33;p5"/>
          <p:cNvSpPr txBox="1"/>
          <p:nvPr>
            <p:ph type="title"/>
          </p:nvPr>
        </p:nvSpPr>
        <p:spPr>
          <a:xfrm>
            <a:off x="365587" y="1141558"/>
            <a:ext cx="5438775" cy="1574208"/>
          </a:xfrm>
          <a:prstGeom prst="rect">
            <a:avLst/>
          </a:prstGeom>
          <a:noFill/>
          <a:ln>
            <a:noFill/>
          </a:ln>
        </p:spPr>
        <p:txBody>
          <a:bodyPr anchorCtr="0" anchor="t" bIns="0" lIns="0" spcFirstLastPara="1" rIns="0" wrap="square" tIns="0">
            <a:noAutofit/>
          </a:bodyPr>
          <a:lstStyle>
            <a:lvl1pPr lvl="0" marR="0" rtl="0" algn="l">
              <a:lnSpc>
                <a:spcPct val="111764"/>
              </a:lnSpc>
              <a:spcBef>
                <a:spcPts val="0"/>
              </a:spcBef>
              <a:spcAft>
                <a:spcPts val="0"/>
              </a:spcAft>
              <a:buSzPts val="1400"/>
              <a:buNone/>
              <a:defRPr b="1" i="0" sz="3400" u="none" cap="none" strike="noStrike">
                <a:solidFill>
                  <a:srgbClr val="1F8FFF"/>
                </a:solidFill>
                <a:latin typeface="Arial"/>
                <a:ea typeface="Arial"/>
                <a:cs typeface="Arial"/>
                <a:sym typeface="Arial"/>
              </a:defRPr>
            </a:lvl1pPr>
            <a:lvl2pPr lvl="1"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2pPr>
            <a:lvl3pPr lvl="2"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3pPr>
            <a:lvl4pPr lvl="3"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4pPr>
            <a:lvl5pPr lvl="4"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5pPr>
            <a:lvl6pPr lvl="5"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6pPr>
            <a:lvl7pPr lvl="6"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7pPr>
            <a:lvl8pPr lvl="7"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8pPr>
            <a:lvl9pPr lvl="8"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2">
  <p:cSld name="Title Slide - 2">
    <p:bg>
      <p:bgPr>
        <a:solidFill>
          <a:schemeClr val="dk1"/>
        </a:solidFill>
      </p:bgPr>
    </p:bg>
    <p:spTree>
      <p:nvGrpSpPr>
        <p:cNvPr id="34" name="Shape 34"/>
        <p:cNvGrpSpPr/>
        <p:nvPr/>
      </p:nvGrpSpPr>
      <p:grpSpPr>
        <a:xfrm>
          <a:off x="0" y="0"/>
          <a:ext cx="0" cy="0"/>
          <a:chOff x="0" y="0"/>
          <a:chExt cx="0" cy="0"/>
        </a:xfrm>
      </p:grpSpPr>
      <p:sp>
        <p:nvSpPr>
          <p:cNvPr id="35" name="Google Shape;35;p6"/>
          <p:cNvSpPr/>
          <p:nvPr/>
        </p:nvSpPr>
        <p:spPr>
          <a:xfrm>
            <a:off x="8243888" y="1131888"/>
            <a:ext cx="900112" cy="1131887"/>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Arial"/>
              <a:ea typeface="Arial"/>
              <a:cs typeface="Arial"/>
              <a:sym typeface="Arial"/>
            </a:endParaRPr>
          </a:p>
        </p:txBody>
      </p:sp>
      <p:pic>
        <p:nvPicPr>
          <p:cNvPr descr="s4b282c2015.png" id="36" name="Google Shape;36;p6"/>
          <p:cNvPicPr preferRelativeResize="0"/>
          <p:nvPr/>
        </p:nvPicPr>
        <p:blipFill rotWithShape="1">
          <a:blip r:embed="rId2">
            <a:alphaModFix/>
          </a:blip>
          <a:srcRect b="0" l="0" r="0" t="0"/>
          <a:stretch/>
        </p:blipFill>
        <p:spPr>
          <a:xfrm>
            <a:off x="8513763" y="1439863"/>
            <a:ext cx="363537" cy="493712"/>
          </a:xfrm>
          <a:prstGeom prst="rect">
            <a:avLst/>
          </a:prstGeom>
          <a:noFill/>
          <a:ln>
            <a:noFill/>
          </a:ln>
        </p:spPr>
      </p:pic>
      <p:sp>
        <p:nvSpPr>
          <p:cNvPr id="37" name="Google Shape;37;p6"/>
          <p:cNvSpPr txBox="1"/>
          <p:nvPr>
            <p:ph idx="1" type="body"/>
          </p:nvPr>
        </p:nvSpPr>
        <p:spPr>
          <a:xfrm>
            <a:off x="365762" y="3003798"/>
            <a:ext cx="5430203" cy="321394"/>
          </a:xfrm>
          <a:prstGeom prst="rect">
            <a:avLst/>
          </a:prstGeom>
          <a:noFill/>
          <a:ln>
            <a:noFill/>
          </a:ln>
        </p:spPr>
        <p:txBody>
          <a:bodyPr anchorCtr="0" anchor="t" bIns="0" lIns="0" spcFirstLastPara="1" rIns="0" wrap="square" tIns="0">
            <a:noAutofit/>
          </a:bodyPr>
          <a:lstStyle>
            <a:lvl1pPr indent="-228600" lvl="0" marL="457200" marR="0" rtl="0" algn="l">
              <a:spcBef>
                <a:spcPts val="360"/>
              </a:spcBef>
              <a:spcAft>
                <a:spcPts val="0"/>
              </a:spcAft>
              <a:buClr>
                <a:srgbClr val="FFFFFF"/>
              </a:buClr>
              <a:buSzPts val="1800"/>
              <a:buFont typeface="Arial"/>
              <a:buNone/>
              <a:defRPr b="0" i="0" sz="1800" u="none" cap="none" strike="noStrike">
                <a:solidFill>
                  <a:srgbClr val="FFFFFF"/>
                </a:solidFill>
                <a:latin typeface="Arial"/>
                <a:ea typeface="Arial"/>
                <a:cs typeface="Arial"/>
                <a:sym typeface="Arial"/>
              </a:defRPr>
            </a:lvl1pPr>
            <a:lvl2pPr indent="-285750" lvl="1" marL="914400" marR="0" rtl="0" algn="l">
              <a:spcBef>
                <a:spcPts val="18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2pPr>
            <a:lvl3pPr indent="-285750" lvl="2" marL="1371600" marR="0" rtl="0" algn="l">
              <a:spcBef>
                <a:spcPts val="18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3pPr>
            <a:lvl4pPr indent="-285750" lvl="3" marL="1828800" marR="0" rtl="0" algn="l">
              <a:spcBef>
                <a:spcPts val="18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4pPr>
            <a:lvl5pPr indent="-285750" lvl="4" marL="2286000" marR="0" rtl="0" algn="l">
              <a:spcBef>
                <a:spcPts val="18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38" name="Google Shape;38;p6"/>
          <p:cNvSpPr txBox="1"/>
          <p:nvPr>
            <p:ph idx="2" type="body"/>
          </p:nvPr>
        </p:nvSpPr>
        <p:spPr>
          <a:xfrm>
            <a:off x="365762" y="3507855"/>
            <a:ext cx="5430203" cy="321394"/>
          </a:xfrm>
          <a:prstGeom prst="rect">
            <a:avLst/>
          </a:prstGeom>
          <a:noFill/>
          <a:ln>
            <a:noFill/>
          </a:ln>
        </p:spPr>
        <p:txBody>
          <a:bodyPr anchorCtr="0" anchor="t" bIns="0" lIns="0" spcFirstLastPara="1" rIns="0" wrap="square" tIns="0">
            <a:noAutofit/>
          </a:bodyPr>
          <a:lstStyle>
            <a:lvl1pPr indent="-228600" lvl="0" marL="457200" marR="0" rtl="0" algn="l">
              <a:spcBef>
                <a:spcPts val="200"/>
              </a:spcBef>
              <a:spcAft>
                <a:spcPts val="0"/>
              </a:spcAft>
              <a:buClr>
                <a:srgbClr val="FFFFFF"/>
              </a:buClr>
              <a:buSzPts val="1000"/>
              <a:buFont typeface="Arial"/>
              <a:buNone/>
              <a:defRPr b="1" i="0" sz="1000" u="none" cap="none" strike="noStrike">
                <a:solidFill>
                  <a:srgbClr val="FFFFFF"/>
                </a:solidFill>
                <a:latin typeface="Arial"/>
                <a:ea typeface="Arial"/>
                <a:cs typeface="Arial"/>
                <a:sym typeface="Arial"/>
              </a:defRPr>
            </a:lvl1pPr>
            <a:lvl2pPr indent="-285750" lvl="1" marL="914400" marR="0" rtl="0" algn="l">
              <a:spcBef>
                <a:spcPts val="18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2pPr>
            <a:lvl3pPr indent="-285750" lvl="2" marL="1371600" marR="0" rtl="0" algn="l">
              <a:spcBef>
                <a:spcPts val="18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3pPr>
            <a:lvl4pPr indent="-285750" lvl="3" marL="1828800" marR="0" rtl="0" algn="l">
              <a:spcBef>
                <a:spcPts val="18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4pPr>
            <a:lvl5pPr indent="-285750" lvl="4" marL="2286000" marR="0" rtl="0" algn="l">
              <a:spcBef>
                <a:spcPts val="18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39" name="Google Shape;39;p6"/>
          <p:cNvSpPr txBox="1"/>
          <p:nvPr>
            <p:ph type="title"/>
          </p:nvPr>
        </p:nvSpPr>
        <p:spPr>
          <a:xfrm>
            <a:off x="385981" y="1145927"/>
            <a:ext cx="5409982" cy="1569839"/>
          </a:xfrm>
          <a:prstGeom prst="rect">
            <a:avLst/>
          </a:prstGeom>
          <a:noFill/>
          <a:ln>
            <a:noFill/>
          </a:ln>
        </p:spPr>
        <p:txBody>
          <a:bodyPr anchorCtr="0" anchor="t" bIns="0" lIns="0" spcFirstLastPara="1" rIns="0" wrap="square" tIns="0">
            <a:noAutofit/>
          </a:bodyPr>
          <a:lstStyle>
            <a:lvl1pPr lvl="0" marR="0" rtl="0" algn="l">
              <a:lnSpc>
                <a:spcPct val="111764"/>
              </a:lnSpc>
              <a:spcBef>
                <a:spcPts val="0"/>
              </a:spcBef>
              <a:spcAft>
                <a:spcPts val="0"/>
              </a:spcAft>
              <a:buSzPts val="1400"/>
              <a:buNone/>
              <a:defRPr b="1" i="0" sz="3400" u="none" cap="none" strike="noStrike">
                <a:solidFill>
                  <a:srgbClr val="D2E8FE"/>
                </a:solidFill>
                <a:latin typeface="Arial"/>
                <a:ea typeface="Arial"/>
                <a:cs typeface="Arial"/>
                <a:sym typeface="Arial"/>
              </a:defRPr>
            </a:lvl1pPr>
            <a:lvl2pPr lvl="1"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2pPr>
            <a:lvl3pPr lvl="2"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3pPr>
            <a:lvl4pPr lvl="3"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4pPr>
            <a:lvl5pPr lvl="4"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5pPr>
            <a:lvl6pPr lvl="5"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6pPr>
            <a:lvl7pPr lvl="6"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7pPr>
            <a:lvl8pPr lvl="7"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8pPr>
            <a:lvl9pPr lvl="8"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Slide - 3">
  <p:cSld name="Subsection Slide - 3">
    <p:bg>
      <p:bgPr>
        <a:solidFill>
          <a:schemeClr val="dk1"/>
        </a:solidFill>
      </p:bgPr>
    </p:bg>
    <p:spTree>
      <p:nvGrpSpPr>
        <p:cNvPr id="40" name="Shape 40"/>
        <p:cNvGrpSpPr/>
        <p:nvPr/>
      </p:nvGrpSpPr>
      <p:grpSpPr>
        <a:xfrm>
          <a:off x="0" y="0"/>
          <a:ext cx="0" cy="0"/>
          <a:chOff x="0" y="0"/>
          <a:chExt cx="0" cy="0"/>
        </a:xfrm>
      </p:grpSpPr>
      <p:sp>
        <p:nvSpPr>
          <p:cNvPr id="41" name="Google Shape;41;p7"/>
          <p:cNvSpPr txBox="1"/>
          <p:nvPr/>
        </p:nvSpPr>
        <p:spPr>
          <a:xfrm flipH="1">
            <a:off x="8588375" y="4732338"/>
            <a:ext cx="304800" cy="192087"/>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FFFFFF"/>
              </a:buClr>
              <a:buSzPts val="900"/>
              <a:buFont typeface="Arial"/>
              <a:buNone/>
            </a:pPr>
            <a:fld id="{00000000-1234-1234-1234-123412341234}" type="slidenum">
              <a:rPr lang="en-CA" sz="900">
                <a:solidFill>
                  <a:srgbClr val="FFFFFF"/>
                </a:solidFill>
                <a:latin typeface="Arial"/>
                <a:ea typeface="Arial"/>
                <a:cs typeface="Arial"/>
                <a:sym typeface="Arial"/>
              </a:rPr>
              <a:t>‹#›</a:t>
            </a:fld>
            <a:endParaRPr sz="900">
              <a:solidFill>
                <a:srgbClr val="FFFFFF"/>
              </a:solidFill>
              <a:latin typeface="Arial"/>
              <a:ea typeface="Arial"/>
              <a:cs typeface="Arial"/>
              <a:sym typeface="Arial"/>
            </a:endParaRPr>
          </a:p>
        </p:txBody>
      </p:sp>
      <p:sp>
        <p:nvSpPr>
          <p:cNvPr id="42" name="Google Shape;42;p7"/>
          <p:cNvSpPr/>
          <p:nvPr/>
        </p:nvSpPr>
        <p:spPr>
          <a:xfrm>
            <a:off x="8243888" y="1131888"/>
            <a:ext cx="900112" cy="1131887"/>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Arial"/>
              <a:ea typeface="Arial"/>
              <a:cs typeface="Arial"/>
              <a:sym typeface="Arial"/>
            </a:endParaRPr>
          </a:p>
        </p:txBody>
      </p:sp>
      <p:pic>
        <p:nvPicPr>
          <p:cNvPr descr="s4b282c2015.png" id="43" name="Google Shape;43;p7"/>
          <p:cNvPicPr preferRelativeResize="0"/>
          <p:nvPr/>
        </p:nvPicPr>
        <p:blipFill rotWithShape="1">
          <a:blip r:embed="rId2">
            <a:alphaModFix/>
          </a:blip>
          <a:srcRect b="0" l="0" r="0" t="0"/>
          <a:stretch/>
        </p:blipFill>
        <p:spPr>
          <a:xfrm>
            <a:off x="8513763" y="1439863"/>
            <a:ext cx="363537" cy="493712"/>
          </a:xfrm>
          <a:prstGeom prst="rect">
            <a:avLst/>
          </a:prstGeom>
          <a:noFill/>
          <a:ln>
            <a:noFill/>
          </a:ln>
        </p:spPr>
      </p:pic>
      <p:sp>
        <p:nvSpPr>
          <p:cNvPr id="44" name="Google Shape;44;p7"/>
          <p:cNvSpPr txBox="1"/>
          <p:nvPr>
            <p:ph type="title"/>
          </p:nvPr>
        </p:nvSpPr>
        <p:spPr>
          <a:xfrm>
            <a:off x="365587" y="1131888"/>
            <a:ext cx="5430376" cy="993775"/>
          </a:xfrm>
          <a:prstGeom prst="rect">
            <a:avLst/>
          </a:prstGeom>
          <a:noFill/>
          <a:ln>
            <a:noFill/>
          </a:ln>
        </p:spPr>
        <p:txBody>
          <a:bodyPr anchorCtr="0" anchor="t" bIns="0" lIns="0" spcFirstLastPara="1" rIns="0" wrap="square" tIns="0">
            <a:noAutofit/>
          </a:bodyPr>
          <a:lstStyle>
            <a:lvl1pPr lvl="0" marR="0" rtl="0" algn="l">
              <a:lnSpc>
                <a:spcPct val="114285"/>
              </a:lnSpc>
              <a:spcBef>
                <a:spcPts val="0"/>
              </a:spcBef>
              <a:spcAft>
                <a:spcPts val="0"/>
              </a:spcAft>
              <a:buSzPts val="1400"/>
              <a:buNone/>
              <a:defRPr b="1" i="0" sz="2800" u="none" cap="none" strike="noStrike">
                <a:solidFill>
                  <a:srgbClr val="D2E8FE"/>
                </a:solidFill>
                <a:latin typeface="Arial"/>
                <a:ea typeface="Arial"/>
                <a:cs typeface="Arial"/>
                <a:sym typeface="Arial"/>
              </a:defRPr>
            </a:lvl1pPr>
            <a:lvl2pPr lvl="1"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2pPr>
            <a:lvl3pPr lvl="2"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3pPr>
            <a:lvl4pPr lvl="3"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4pPr>
            <a:lvl5pPr lvl="4"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5pPr>
            <a:lvl6pPr lvl="5"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6pPr>
            <a:lvl7pPr lvl="6"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7pPr>
            <a:lvl8pPr lvl="7"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8pPr>
            <a:lvl9pPr lvl="8"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py Slide - 2">
  <p:cSld name="Copy Slide - 2">
    <p:bg>
      <p:bgPr>
        <a:solidFill>
          <a:schemeClr val="dk1"/>
        </a:solidFill>
      </p:bgPr>
    </p:bg>
    <p:spTree>
      <p:nvGrpSpPr>
        <p:cNvPr id="45" name="Shape 45"/>
        <p:cNvGrpSpPr/>
        <p:nvPr/>
      </p:nvGrpSpPr>
      <p:grpSpPr>
        <a:xfrm>
          <a:off x="0" y="0"/>
          <a:ext cx="0" cy="0"/>
          <a:chOff x="0" y="0"/>
          <a:chExt cx="0" cy="0"/>
        </a:xfrm>
      </p:grpSpPr>
      <p:pic>
        <p:nvPicPr>
          <p:cNvPr descr="2014_logo_only_reverse.png" id="46" name="Google Shape;46;p8"/>
          <p:cNvPicPr preferRelativeResize="0"/>
          <p:nvPr/>
        </p:nvPicPr>
        <p:blipFill rotWithShape="1">
          <a:blip r:embed="rId2">
            <a:alphaModFix/>
          </a:blip>
          <a:srcRect b="0" l="0" r="0" t="0"/>
          <a:stretch/>
        </p:blipFill>
        <p:spPr>
          <a:xfrm>
            <a:off x="8485188" y="1419225"/>
            <a:ext cx="407987" cy="514350"/>
          </a:xfrm>
          <a:prstGeom prst="rect">
            <a:avLst/>
          </a:prstGeom>
          <a:noFill/>
          <a:ln>
            <a:noFill/>
          </a:ln>
        </p:spPr>
      </p:pic>
      <p:sp>
        <p:nvSpPr>
          <p:cNvPr id="47" name="Google Shape;47;p8"/>
          <p:cNvSpPr txBox="1"/>
          <p:nvPr/>
        </p:nvSpPr>
        <p:spPr>
          <a:xfrm flipH="1">
            <a:off x="8588375" y="4732338"/>
            <a:ext cx="304800" cy="192087"/>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FFFFFF"/>
              </a:buClr>
              <a:buSzPts val="900"/>
              <a:buFont typeface="Arial"/>
              <a:buNone/>
            </a:pPr>
            <a:fld id="{00000000-1234-1234-1234-123412341234}" type="slidenum">
              <a:rPr lang="en-CA" sz="900">
                <a:solidFill>
                  <a:srgbClr val="FFFFFF"/>
                </a:solidFill>
                <a:latin typeface="Arial"/>
                <a:ea typeface="Arial"/>
                <a:cs typeface="Arial"/>
                <a:sym typeface="Arial"/>
              </a:rPr>
              <a:t>‹#›</a:t>
            </a:fld>
            <a:endParaRPr sz="900">
              <a:solidFill>
                <a:srgbClr val="FFFFFF"/>
              </a:solidFill>
              <a:latin typeface="Arial"/>
              <a:ea typeface="Arial"/>
              <a:cs typeface="Arial"/>
              <a:sym typeface="Arial"/>
            </a:endParaRPr>
          </a:p>
        </p:txBody>
      </p:sp>
      <p:sp>
        <p:nvSpPr>
          <p:cNvPr id="48" name="Google Shape;48;p8"/>
          <p:cNvSpPr txBox="1"/>
          <p:nvPr>
            <p:ph idx="1" type="body"/>
          </p:nvPr>
        </p:nvSpPr>
        <p:spPr>
          <a:xfrm>
            <a:off x="438954" y="1131888"/>
            <a:ext cx="7661438" cy="3697288"/>
          </a:xfrm>
          <a:prstGeom prst="rect">
            <a:avLst/>
          </a:prstGeom>
          <a:noFill/>
          <a:ln>
            <a:noFill/>
          </a:ln>
        </p:spPr>
        <p:txBody>
          <a:bodyPr anchorCtr="0" anchor="t" bIns="0" lIns="0" spcFirstLastPara="1" rIns="0" wrap="square" tIns="0">
            <a:noAutofit/>
          </a:bodyPr>
          <a:lstStyle>
            <a:lvl1pPr indent="-228600" lvl="0" marL="457200" marR="0" rtl="0" algn="l">
              <a:lnSpc>
                <a:spcPct val="130000"/>
              </a:lnSpc>
              <a:spcBef>
                <a:spcPts val="0"/>
              </a:spcBef>
              <a:spcAft>
                <a:spcPts val="0"/>
              </a:spcAft>
              <a:buClr>
                <a:srgbClr val="FFFFFF"/>
              </a:buClr>
              <a:buSzPts val="1500"/>
              <a:buFont typeface="Arial"/>
              <a:buNone/>
              <a:defRPr b="0" i="0" sz="1500" u="none" cap="none" strike="noStrike">
                <a:solidFill>
                  <a:srgbClr val="FFFFFF"/>
                </a:solidFill>
                <a:latin typeface="Arial"/>
                <a:ea typeface="Arial"/>
                <a:cs typeface="Arial"/>
                <a:sym typeface="Arial"/>
              </a:defRPr>
            </a:lvl1pPr>
            <a:lvl2pPr indent="-323850" lvl="1" marL="914400" marR="0" rtl="0" algn="l">
              <a:lnSpc>
                <a:spcPct val="130000"/>
              </a:lnSpc>
              <a:spcBef>
                <a:spcPts val="0"/>
              </a:spcBef>
              <a:spcAft>
                <a:spcPts val="0"/>
              </a:spcAft>
              <a:buClr>
                <a:srgbClr val="FFFFFF"/>
              </a:buClr>
              <a:buSzPts val="1500"/>
              <a:buFont typeface="Arial"/>
              <a:buChar char="•"/>
              <a:defRPr b="0" i="0" sz="1500" u="none" cap="none" strike="noStrike">
                <a:solidFill>
                  <a:srgbClr val="FFFFFF"/>
                </a:solidFill>
                <a:latin typeface="Arial"/>
                <a:ea typeface="Arial"/>
                <a:cs typeface="Arial"/>
                <a:sym typeface="Arial"/>
              </a:defRPr>
            </a:lvl2pPr>
            <a:lvl3pPr indent="-323850" lvl="2" marL="1371600" marR="0" rtl="0" algn="l">
              <a:lnSpc>
                <a:spcPct val="130000"/>
              </a:lnSpc>
              <a:spcBef>
                <a:spcPts val="0"/>
              </a:spcBef>
              <a:spcAft>
                <a:spcPts val="0"/>
              </a:spcAft>
              <a:buClr>
                <a:srgbClr val="FFFFFF"/>
              </a:buClr>
              <a:buSzPts val="1500"/>
              <a:buFont typeface="Arial"/>
              <a:buChar char="•"/>
              <a:defRPr b="0" i="0" sz="1500" u="none" cap="none" strike="noStrike">
                <a:solidFill>
                  <a:srgbClr val="FFFFFF"/>
                </a:solidFill>
                <a:latin typeface="Arial"/>
                <a:ea typeface="Arial"/>
                <a:cs typeface="Arial"/>
                <a:sym typeface="Arial"/>
              </a:defRPr>
            </a:lvl3pPr>
            <a:lvl4pPr indent="-323850" lvl="3" marL="1828800" marR="0" rtl="0" algn="l">
              <a:lnSpc>
                <a:spcPct val="130000"/>
              </a:lnSpc>
              <a:spcBef>
                <a:spcPts val="0"/>
              </a:spcBef>
              <a:spcAft>
                <a:spcPts val="0"/>
              </a:spcAft>
              <a:buClr>
                <a:srgbClr val="FFFFFF"/>
              </a:buClr>
              <a:buSzPts val="1500"/>
              <a:buFont typeface="Arial"/>
              <a:buChar char="•"/>
              <a:defRPr b="0" i="0" sz="1500" u="none" cap="none" strike="noStrike">
                <a:solidFill>
                  <a:srgbClr val="FFFFFF"/>
                </a:solidFill>
                <a:latin typeface="Arial"/>
                <a:ea typeface="Arial"/>
                <a:cs typeface="Arial"/>
                <a:sym typeface="Arial"/>
              </a:defRPr>
            </a:lvl4pPr>
            <a:lvl5pPr indent="-323850" lvl="4" marL="2286000" marR="0" rtl="0" algn="l">
              <a:lnSpc>
                <a:spcPct val="130000"/>
              </a:lnSpc>
              <a:spcBef>
                <a:spcPts val="0"/>
              </a:spcBef>
              <a:spcAft>
                <a:spcPts val="0"/>
              </a:spcAft>
              <a:buClr>
                <a:srgbClr val="FFFFFF"/>
              </a:buClr>
              <a:buSzPts val="1500"/>
              <a:buFont typeface="Arial"/>
              <a:buChar char="•"/>
              <a:defRPr b="0" i="0" sz="1500" u="none" cap="none" strike="noStrike">
                <a:solidFill>
                  <a:srgbClr val="FFFFFF"/>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49" name="Google Shape;49;p8"/>
          <p:cNvSpPr txBox="1"/>
          <p:nvPr>
            <p:ph type="title"/>
          </p:nvPr>
        </p:nvSpPr>
        <p:spPr>
          <a:xfrm>
            <a:off x="438954" y="555526"/>
            <a:ext cx="7886700" cy="432047"/>
          </a:xfrm>
          <a:prstGeom prst="rect">
            <a:avLst/>
          </a:prstGeom>
          <a:noFill/>
          <a:ln>
            <a:noFill/>
          </a:ln>
        </p:spPr>
        <p:txBody>
          <a:bodyPr anchorCtr="0" anchor="t" bIns="0" lIns="0" spcFirstLastPara="1" rIns="0" wrap="square" tIns="0">
            <a:noAutofit/>
          </a:bodyPr>
          <a:lstStyle>
            <a:lvl1pPr lvl="0" marR="0" rtl="0" algn="l">
              <a:lnSpc>
                <a:spcPct val="133333"/>
              </a:lnSpc>
              <a:spcBef>
                <a:spcPts val="0"/>
              </a:spcBef>
              <a:spcAft>
                <a:spcPts val="0"/>
              </a:spcAft>
              <a:buSzPts val="1400"/>
              <a:buNone/>
              <a:defRPr b="1" i="0" sz="2100" u="none" cap="none" strike="noStrike">
                <a:solidFill>
                  <a:srgbClr val="D2E8FE"/>
                </a:solidFill>
                <a:latin typeface="Arial"/>
                <a:ea typeface="Arial"/>
                <a:cs typeface="Arial"/>
                <a:sym typeface="Arial"/>
              </a:defRPr>
            </a:lvl1pPr>
            <a:lvl2pPr lvl="1"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2pPr>
            <a:lvl3pPr lvl="2"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3pPr>
            <a:lvl4pPr lvl="3"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4pPr>
            <a:lvl5pPr lvl="4"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5pPr>
            <a:lvl6pPr lvl="5"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6pPr>
            <a:lvl7pPr lvl="6"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7pPr>
            <a:lvl8pPr lvl="7"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8pPr>
            <a:lvl9pPr lvl="8"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phics Slide - 1">
  <p:cSld name="Graphics Slide - 1">
    <p:spTree>
      <p:nvGrpSpPr>
        <p:cNvPr id="50" name="Shape 50"/>
        <p:cNvGrpSpPr/>
        <p:nvPr/>
      </p:nvGrpSpPr>
      <p:grpSpPr>
        <a:xfrm>
          <a:off x="0" y="0"/>
          <a:ext cx="0" cy="0"/>
          <a:chOff x="0" y="0"/>
          <a:chExt cx="0" cy="0"/>
        </a:xfrm>
      </p:grpSpPr>
      <p:sp>
        <p:nvSpPr>
          <p:cNvPr id="51" name="Google Shape;51;p9"/>
          <p:cNvSpPr txBox="1"/>
          <p:nvPr/>
        </p:nvSpPr>
        <p:spPr>
          <a:xfrm flipH="1">
            <a:off x="8588375" y="4732338"/>
            <a:ext cx="304800" cy="192087"/>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chemeClr val="dk1"/>
              </a:buClr>
              <a:buSzPts val="900"/>
              <a:buFont typeface="Arial"/>
              <a:buNone/>
            </a:pPr>
            <a:fld id="{00000000-1234-1234-1234-123412341234}" type="slidenum">
              <a:rPr lang="en-CA" sz="900">
                <a:solidFill>
                  <a:schemeClr val="dk1"/>
                </a:solidFill>
                <a:latin typeface="Arial"/>
                <a:ea typeface="Arial"/>
                <a:cs typeface="Arial"/>
                <a:sym typeface="Arial"/>
              </a:rPr>
              <a:t>‹#›</a:t>
            </a:fld>
            <a:endParaRPr sz="900">
              <a:solidFill>
                <a:schemeClr val="dk1"/>
              </a:solidFill>
              <a:latin typeface="Arial"/>
              <a:ea typeface="Arial"/>
              <a:cs typeface="Arial"/>
              <a:sym typeface="Arial"/>
            </a:endParaRPr>
          </a:p>
        </p:txBody>
      </p:sp>
      <p:pic>
        <p:nvPicPr>
          <p:cNvPr descr="s4b282c2015.png" id="52" name="Google Shape;52;p9"/>
          <p:cNvPicPr preferRelativeResize="0"/>
          <p:nvPr/>
        </p:nvPicPr>
        <p:blipFill rotWithShape="1">
          <a:blip r:embed="rId2">
            <a:alphaModFix/>
          </a:blip>
          <a:srcRect b="0" l="0" r="0" t="0"/>
          <a:stretch/>
        </p:blipFill>
        <p:spPr>
          <a:xfrm>
            <a:off x="8529638" y="411510"/>
            <a:ext cx="363537" cy="493713"/>
          </a:xfrm>
          <a:prstGeom prst="rect">
            <a:avLst/>
          </a:prstGeom>
          <a:noFill/>
          <a:ln>
            <a:noFill/>
          </a:ln>
        </p:spPr>
      </p:pic>
      <p:sp>
        <p:nvSpPr>
          <p:cNvPr id="53" name="Google Shape;53;p9"/>
          <p:cNvSpPr txBox="1"/>
          <p:nvPr>
            <p:ph idx="1" type="body"/>
          </p:nvPr>
        </p:nvSpPr>
        <p:spPr>
          <a:xfrm>
            <a:off x="438954" y="1131888"/>
            <a:ext cx="7661438" cy="3697288"/>
          </a:xfrm>
          <a:prstGeom prst="rect">
            <a:avLst/>
          </a:prstGeom>
          <a:noFill/>
          <a:ln>
            <a:noFill/>
          </a:ln>
        </p:spPr>
        <p:txBody>
          <a:bodyPr anchorCtr="0" anchor="t" bIns="0" lIns="0" spcFirstLastPara="1" rIns="0" wrap="square" tIns="0">
            <a:noAutofit/>
          </a:bodyPr>
          <a:lstStyle>
            <a:lvl1pPr indent="-228600" lvl="0" marL="457200" marR="0" rtl="0" algn="l">
              <a:lnSpc>
                <a:spcPct val="130000"/>
              </a:lnSpc>
              <a:spcBef>
                <a:spcPts val="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1pPr>
            <a:lvl2pPr indent="-323850" lvl="1" marL="914400" marR="0" rtl="0" algn="l">
              <a:lnSpc>
                <a:spcPct val="130000"/>
              </a:lnSpc>
              <a:spcBef>
                <a:spcPts val="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2pPr>
            <a:lvl3pPr indent="-323850" lvl="2" marL="1371600" marR="0" rtl="0" algn="l">
              <a:lnSpc>
                <a:spcPct val="130000"/>
              </a:lnSpc>
              <a:spcBef>
                <a:spcPts val="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23850" lvl="3" marL="1828800" marR="0" rtl="0" algn="l">
              <a:lnSpc>
                <a:spcPct val="130000"/>
              </a:lnSpc>
              <a:spcBef>
                <a:spcPts val="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4pPr>
            <a:lvl5pPr indent="-323850" lvl="4" marL="2286000" marR="0" rtl="0" algn="l">
              <a:lnSpc>
                <a:spcPct val="130000"/>
              </a:lnSpc>
              <a:spcBef>
                <a:spcPts val="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54" name="Google Shape;54;p9"/>
          <p:cNvSpPr txBox="1"/>
          <p:nvPr>
            <p:ph type="title"/>
          </p:nvPr>
        </p:nvSpPr>
        <p:spPr>
          <a:xfrm>
            <a:off x="438955" y="411510"/>
            <a:ext cx="7908520" cy="623332"/>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SzPts val="1400"/>
              <a:buNone/>
              <a:defRPr b="1" i="0" sz="2100" u="none" cap="none" strike="noStrike">
                <a:solidFill>
                  <a:srgbClr val="1F8FFF"/>
                </a:solidFill>
                <a:latin typeface="Arial"/>
                <a:ea typeface="Arial"/>
                <a:cs typeface="Arial"/>
                <a:sym typeface="Arial"/>
              </a:defRPr>
            </a:lvl1pPr>
            <a:lvl2pPr lvl="1"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2pPr>
            <a:lvl3pPr lvl="2"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3pPr>
            <a:lvl4pPr lvl="3"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4pPr>
            <a:lvl5pPr lvl="4"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5pPr>
            <a:lvl6pPr lvl="5"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6pPr>
            <a:lvl7pPr lvl="6"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7pPr>
            <a:lvl8pPr lvl="7"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8pPr>
            <a:lvl9pPr lvl="8"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phics Slide - 2">
  <p:cSld name="Graphics Slide - 2">
    <p:bg>
      <p:bgPr>
        <a:solidFill>
          <a:schemeClr val="dk1"/>
        </a:solidFill>
      </p:bgPr>
    </p:bg>
    <p:spTree>
      <p:nvGrpSpPr>
        <p:cNvPr id="55" name="Shape 55"/>
        <p:cNvGrpSpPr/>
        <p:nvPr/>
      </p:nvGrpSpPr>
      <p:grpSpPr>
        <a:xfrm>
          <a:off x="0" y="0"/>
          <a:ext cx="0" cy="0"/>
          <a:chOff x="0" y="0"/>
          <a:chExt cx="0" cy="0"/>
        </a:xfrm>
      </p:grpSpPr>
      <p:sp>
        <p:nvSpPr>
          <p:cNvPr id="56" name="Google Shape;56;p10"/>
          <p:cNvSpPr txBox="1"/>
          <p:nvPr/>
        </p:nvSpPr>
        <p:spPr>
          <a:xfrm flipH="1">
            <a:off x="8588375" y="4732338"/>
            <a:ext cx="304800" cy="192087"/>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FFFFFF"/>
              </a:buClr>
              <a:buSzPts val="900"/>
              <a:buFont typeface="Arial"/>
              <a:buNone/>
            </a:pPr>
            <a:fld id="{00000000-1234-1234-1234-123412341234}" type="slidenum">
              <a:rPr lang="en-CA" sz="900">
                <a:solidFill>
                  <a:srgbClr val="FFFFFF"/>
                </a:solidFill>
                <a:latin typeface="Arial"/>
                <a:ea typeface="Arial"/>
                <a:cs typeface="Arial"/>
                <a:sym typeface="Arial"/>
              </a:rPr>
              <a:t>‹#›</a:t>
            </a:fld>
            <a:endParaRPr sz="900">
              <a:solidFill>
                <a:srgbClr val="FFFFFF"/>
              </a:solidFill>
              <a:latin typeface="Arial"/>
              <a:ea typeface="Arial"/>
              <a:cs typeface="Arial"/>
              <a:sym typeface="Arial"/>
            </a:endParaRPr>
          </a:p>
        </p:txBody>
      </p:sp>
      <p:pic>
        <p:nvPicPr>
          <p:cNvPr descr="2014_logo_only_reverse.png" id="57" name="Google Shape;57;p10"/>
          <p:cNvPicPr preferRelativeResize="0"/>
          <p:nvPr/>
        </p:nvPicPr>
        <p:blipFill rotWithShape="1">
          <a:blip r:embed="rId2">
            <a:alphaModFix/>
          </a:blip>
          <a:srcRect b="0" l="0" r="0" t="0"/>
          <a:stretch/>
        </p:blipFill>
        <p:spPr>
          <a:xfrm>
            <a:off x="8485188" y="378247"/>
            <a:ext cx="407987" cy="514350"/>
          </a:xfrm>
          <a:prstGeom prst="rect">
            <a:avLst/>
          </a:prstGeom>
          <a:noFill/>
          <a:ln>
            <a:noFill/>
          </a:ln>
        </p:spPr>
      </p:pic>
      <p:sp>
        <p:nvSpPr>
          <p:cNvPr id="58" name="Google Shape;58;p10"/>
          <p:cNvSpPr txBox="1"/>
          <p:nvPr>
            <p:ph idx="1" type="body"/>
          </p:nvPr>
        </p:nvSpPr>
        <p:spPr>
          <a:xfrm>
            <a:off x="438954" y="1131888"/>
            <a:ext cx="7661438" cy="3697288"/>
          </a:xfrm>
          <a:prstGeom prst="rect">
            <a:avLst/>
          </a:prstGeom>
          <a:noFill/>
          <a:ln>
            <a:noFill/>
          </a:ln>
        </p:spPr>
        <p:txBody>
          <a:bodyPr anchorCtr="0" anchor="t" bIns="0" lIns="0" spcFirstLastPara="1" rIns="0" wrap="square" tIns="0">
            <a:noAutofit/>
          </a:bodyPr>
          <a:lstStyle>
            <a:lvl1pPr indent="-228600" lvl="0" marL="457200" marR="0" rtl="0" algn="l">
              <a:lnSpc>
                <a:spcPct val="130000"/>
              </a:lnSpc>
              <a:spcBef>
                <a:spcPts val="0"/>
              </a:spcBef>
              <a:spcAft>
                <a:spcPts val="0"/>
              </a:spcAft>
              <a:buClr>
                <a:srgbClr val="FFFFFF"/>
              </a:buClr>
              <a:buSzPts val="1500"/>
              <a:buFont typeface="Arial"/>
              <a:buNone/>
              <a:defRPr b="0" i="0" sz="1500" u="none" cap="none" strike="noStrike">
                <a:solidFill>
                  <a:srgbClr val="FFFFFF"/>
                </a:solidFill>
                <a:latin typeface="Arial"/>
                <a:ea typeface="Arial"/>
                <a:cs typeface="Arial"/>
                <a:sym typeface="Arial"/>
              </a:defRPr>
            </a:lvl1pPr>
            <a:lvl2pPr indent="-323850" lvl="1" marL="914400" marR="0" rtl="0" algn="l">
              <a:lnSpc>
                <a:spcPct val="130000"/>
              </a:lnSpc>
              <a:spcBef>
                <a:spcPts val="0"/>
              </a:spcBef>
              <a:spcAft>
                <a:spcPts val="0"/>
              </a:spcAft>
              <a:buClr>
                <a:srgbClr val="FFFFFF"/>
              </a:buClr>
              <a:buSzPts val="1500"/>
              <a:buFont typeface="Arial"/>
              <a:buChar char="•"/>
              <a:defRPr b="0" i="0" sz="1500" u="none" cap="none" strike="noStrike">
                <a:solidFill>
                  <a:srgbClr val="FFFFFF"/>
                </a:solidFill>
                <a:latin typeface="Arial"/>
                <a:ea typeface="Arial"/>
                <a:cs typeface="Arial"/>
                <a:sym typeface="Arial"/>
              </a:defRPr>
            </a:lvl2pPr>
            <a:lvl3pPr indent="-323850" lvl="2" marL="1371600" marR="0" rtl="0" algn="l">
              <a:lnSpc>
                <a:spcPct val="130000"/>
              </a:lnSpc>
              <a:spcBef>
                <a:spcPts val="0"/>
              </a:spcBef>
              <a:spcAft>
                <a:spcPts val="0"/>
              </a:spcAft>
              <a:buClr>
                <a:srgbClr val="FFFFFF"/>
              </a:buClr>
              <a:buSzPts val="1500"/>
              <a:buFont typeface="Arial"/>
              <a:buChar char="•"/>
              <a:defRPr b="0" i="0" sz="1500" u="none" cap="none" strike="noStrike">
                <a:solidFill>
                  <a:srgbClr val="FFFFFF"/>
                </a:solidFill>
                <a:latin typeface="Arial"/>
                <a:ea typeface="Arial"/>
                <a:cs typeface="Arial"/>
                <a:sym typeface="Arial"/>
              </a:defRPr>
            </a:lvl3pPr>
            <a:lvl4pPr indent="-323850" lvl="3" marL="1828800" marR="0" rtl="0" algn="l">
              <a:lnSpc>
                <a:spcPct val="130000"/>
              </a:lnSpc>
              <a:spcBef>
                <a:spcPts val="0"/>
              </a:spcBef>
              <a:spcAft>
                <a:spcPts val="0"/>
              </a:spcAft>
              <a:buClr>
                <a:srgbClr val="FFFFFF"/>
              </a:buClr>
              <a:buSzPts val="1500"/>
              <a:buFont typeface="Arial"/>
              <a:buChar char="•"/>
              <a:defRPr b="0" i="0" sz="1500" u="none" cap="none" strike="noStrike">
                <a:solidFill>
                  <a:srgbClr val="FFFFFF"/>
                </a:solidFill>
                <a:latin typeface="Arial"/>
                <a:ea typeface="Arial"/>
                <a:cs typeface="Arial"/>
                <a:sym typeface="Arial"/>
              </a:defRPr>
            </a:lvl4pPr>
            <a:lvl5pPr indent="-323850" lvl="4" marL="2286000" marR="0" rtl="0" algn="l">
              <a:lnSpc>
                <a:spcPct val="130000"/>
              </a:lnSpc>
              <a:spcBef>
                <a:spcPts val="0"/>
              </a:spcBef>
              <a:spcAft>
                <a:spcPts val="0"/>
              </a:spcAft>
              <a:buClr>
                <a:srgbClr val="FFFFFF"/>
              </a:buClr>
              <a:buSzPts val="1500"/>
              <a:buFont typeface="Arial"/>
              <a:buChar char="•"/>
              <a:defRPr b="0" i="0" sz="1500" u="none" cap="none" strike="noStrike">
                <a:solidFill>
                  <a:srgbClr val="FFFFFF"/>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59" name="Google Shape;59;p10"/>
          <p:cNvSpPr txBox="1"/>
          <p:nvPr>
            <p:ph type="title"/>
          </p:nvPr>
        </p:nvSpPr>
        <p:spPr>
          <a:xfrm>
            <a:off x="438954" y="411510"/>
            <a:ext cx="7949470" cy="648071"/>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SzPts val="1400"/>
              <a:buNone/>
              <a:defRPr b="1" i="0" sz="2100" u="none" cap="none" strike="noStrike">
                <a:solidFill>
                  <a:srgbClr val="D2E8FE"/>
                </a:solidFill>
                <a:latin typeface="Arial"/>
                <a:ea typeface="Arial"/>
                <a:cs typeface="Arial"/>
                <a:sym typeface="Arial"/>
              </a:defRPr>
            </a:lvl1pPr>
            <a:lvl2pPr lvl="1"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2pPr>
            <a:lvl3pPr lvl="2"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3pPr>
            <a:lvl4pPr lvl="3"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4pPr>
            <a:lvl5pPr lvl="4"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5pPr>
            <a:lvl6pPr lvl="5"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6pPr>
            <a:lvl7pPr lvl="6"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7pPr>
            <a:lvl8pPr lvl="7"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8pPr>
            <a:lvl9pPr lvl="8"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Slide">
  <p:cSld name="End Slide">
    <p:spTree>
      <p:nvGrpSpPr>
        <p:cNvPr id="60" name="Shape 60"/>
        <p:cNvGrpSpPr/>
        <p:nvPr/>
      </p:nvGrpSpPr>
      <p:grpSpPr>
        <a:xfrm>
          <a:off x="0" y="0"/>
          <a:ext cx="0" cy="0"/>
          <a:chOff x="0" y="0"/>
          <a:chExt cx="0" cy="0"/>
        </a:xfrm>
      </p:grpSpPr>
      <p:pic>
        <p:nvPicPr>
          <p:cNvPr descr="UBC_2016_Signature_Wide_282.png" id="61" name="Google Shape;61;p11"/>
          <p:cNvPicPr preferRelativeResize="0"/>
          <p:nvPr/>
        </p:nvPicPr>
        <p:blipFill rotWithShape="1">
          <a:blip r:embed="rId2">
            <a:alphaModFix/>
          </a:blip>
          <a:srcRect b="0" l="0" r="0" t="0"/>
          <a:stretch/>
        </p:blipFill>
        <p:spPr>
          <a:xfrm>
            <a:off x="439738" y="1439863"/>
            <a:ext cx="4770437" cy="627062"/>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Slide - 2">
  <p:cSld name="End Slide - 2">
    <p:bg>
      <p:bgPr>
        <a:solidFill>
          <a:schemeClr val="dk1"/>
        </a:solidFill>
      </p:bgPr>
    </p:bg>
    <p:spTree>
      <p:nvGrpSpPr>
        <p:cNvPr id="62" name="Shape 62"/>
        <p:cNvGrpSpPr/>
        <p:nvPr/>
      </p:nvGrpSpPr>
      <p:grpSpPr>
        <a:xfrm>
          <a:off x="0" y="0"/>
          <a:ext cx="0" cy="0"/>
          <a:chOff x="0" y="0"/>
          <a:chExt cx="0" cy="0"/>
        </a:xfrm>
      </p:grpSpPr>
      <p:pic>
        <p:nvPicPr>
          <p:cNvPr descr="1_2016_UBCStandard_Signature_ReverseRGB72.png" id="63" name="Google Shape;63;p12"/>
          <p:cNvPicPr preferRelativeResize="0"/>
          <p:nvPr/>
        </p:nvPicPr>
        <p:blipFill rotWithShape="1">
          <a:blip r:embed="rId2">
            <a:alphaModFix/>
          </a:blip>
          <a:srcRect b="0" l="0" r="0" t="0"/>
          <a:stretch/>
        </p:blipFill>
        <p:spPr>
          <a:xfrm>
            <a:off x="439738" y="1443038"/>
            <a:ext cx="4770437" cy="623887"/>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3.png"/><Relationship Id="rId4" Type="http://schemas.openxmlformats.org/officeDocument/2006/relationships/image" Target="../media/image16.png"/><Relationship Id="rId5"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4.png"/><Relationship Id="rId4" Type="http://schemas.openxmlformats.org/officeDocument/2006/relationships/image" Target="../media/image3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0.pn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4.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2.png"/><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8.png"/><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4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7.png"/><Relationship Id="rId4" Type="http://schemas.openxmlformats.org/officeDocument/2006/relationships/image" Target="../media/image3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43.png"/><Relationship Id="rId4" Type="http://schemas.openxmlformats.org/officeDocument/2006/relationships/image" Target="../media/image3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3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3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2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4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39.png"/><Relationship Id="rId4" Type="http://schemas.openxmlformats.org/officeDocument/2006/relationships/image" Target="../media/image3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2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3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4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3"/>
          <p:cNvSpPr txBox="1"/>
          <p:nvPr>
            <p:ph idx="1" type="body"/>
          </p:nvPr>
        </p:nvSpPr>
        <p:spPr>
          <a:xfrm>
            <a:off x="365126" y="1331914"/>
            <a:ext cx="5430838" cy="1671637"/>
          </a:xfrm>
          <a:prstGeom prst="rect">
            <a:avLst/>
          </a:prstGeom>
          <a:noFill/>
          <a:ln>
            <a:noFill/>
          </a:ln>
        </p:spPr>
        <p:txBody>
          <a:bodyPr anchorCtr="0" anchor="t" bIns="0" lIns="0" spcFirstLastPara="1" rIns="0" wrap="square" tIns="0">
            <a:noAutofit/>
          </a:bodyPr>
          <a:lstStyle/>
          <a:p>
            <a:pPr indent="0" lvl="0" marL="0" rtl="0" algn="l">
              <a:lnSpc>
                <a:spcPct val="111764"/>
              </a:lnSpc>
              <a:spcBef>
                <a:spcPts val="0"/>
              </a:spcBef>
              <a:spcAft>
                <a:spcPts val="0"/>
              </a:spcAft>
              <a:buClr>
                <a:schemeClr val="dk1"/>
              </a:buClr>
              <a:buSzPts val="3400"/>
              <a:buFont typeface="Arial"/>
              <a:buNone/>
            </a:pPr>
            <a:r>
              <a:rPr lang="en-CA"/>
              <a:t>572 Project Group 11</a:t>
            </a:r>
            <a:endParaRPr/>
          </a:p>
        </p:txBody>
      </p:sp>
      <p:sp>
        <p:nvSpPr>
          <p:cNvPr id="70" name="Google Shape;70;p13"/>
          <p:cNvSpPr txBox="1"/>
          <p:nvPr>
            <p:ph idx="3" type="body"/>
          </p:nvPr>
        </p:nvSpPr>
        <p:spPr>
          <a:xfrm>
            <a:off x="365125" y="3102429"/>
            <a:ext cx="5430838" cy="661309"/>
          </a:xfrm>
          <a:prstGeom prst="rect">
            <a:avLst/>
          </a:prstGeom>
          <a:noFill/>
          <a:ln>
            <a:noFill/>
          </a:ln>
        </p:spPr>
        <p:txBody>
          <a:bodyPr anchorCtr="0" anchor="t" bIns="0" lIns="0" spcFirstLastPara="1" rIns="0" wrap="square" tIns="0">
            <a:normAutofit/>
          </a:bodyPr>
          <a:lstStyle/>
          <a:p>
            <a:pPr indent="0" lvl="0" marL="0" rtl="0" algn="l">
              <a:spcBef>
                <a:spcPts val="0"/>
              </a:spcBef>
              <a:spcAft>
                <a:spcPts val="0"/>
              </a:spcAft>
              <a:buClr>
                <a:srgbClr val="0C2344"/>
              </a:buClr>
              <a:buSzPts val="1200"/>
              <a:buFont typeface="Arial"/>
              <a:buNone/>
            </a:pPr>
            <a:r>
              <a:rPr lang="en-CA" sz="1200"/>
              <a:t>Yue Wang</a:t>
            </a:r>
            <a:r>
              <a:rPr lang="en-CA" sz="1200"/>
              <a:t>, Inaara, Zihao Sheng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4"/>
          <p:cNvSpPr txBox="1"/>
          <p:nvPr>
            <p:ph idx="1" type="body"/>
          </p:nvPr>
        </p:nvSpPr>
        <p:spPr>
          <a:xfrm>
            <a:off x="438954" y="1131888"/>
            <a:ext cx="7661400" cy="3697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CA"/>
              <a:t>From the dataset, we observe that approximately 75% of the observations have missing values for the Cabin variable.</a:t>
            </a:r>
            <a:endParaRPr/>
          </a:p>
          <a:p>
            <a:pPr indent="0" lvl="0" marL="0" rtl="0" algn="l">
              <a:spcBef>
                <a:spcPts val="0"/>
              </a:spcBef>
              <a:spcAft>
                <a:spcPts val="0"/>
              </a:spcAft>
              <a:buNone/>
            </a:pPr>
            <a:r>
              <a:t/>
            </a:r>
            <a:endParaRPr/>
          </a:p>
          <a:p>
            <a:pPr indent="0" lvl="0" marL="0" rtl="0" algn="l">
              <a:spcBef>
                <a:spcPts val="0"/>
              </a:spcBef>
              <a:spcAft>
                <a:spcPts val="0"/>
              </a:spcAft>
              <a:buNone/>
            </a:pPr>
            <a:r>
              <a:rPr lang="en-CA"/>
              <a:t>And there are a number of passengers missing age data as well.</a:t>
            </a:r>
            <a:endParaRPr/>
          </a:p>
          <a:p>
            <a:pPr indent="0" lvl="0" marL="0" rtl="0" algn="l">
              <a:spcBef>
                <a:spcPts val="0"/>
              </a:spcBef>
              <a:spcAft>
                <a:spcPts val="0"/>
              </a:spcAft>
              <a:buNone/>
            </a:pPr>
            <a:r>
              <a:t/>
            </a:r>
            <a:endParaRPr/>
          </a:p>
          <a:p>
            <a:pPr indent="0" lvl="0" marL="0" rtl="0" algn="l">
              <a:spcBef>
                <a:spcPts val="0"/>
              </a:spcBef>
              <a:spcAft>
                <a:spcPts val="0"/>
              </a:spcAft>
              <a:buNone/>
            </a:pPr>
            <a:r>
              <a:rPr lang="en-CA"/>
              <a:t>Therefore, we marked these passengers with two new columns: cabin_missing and age _missing.</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77" name="Google Shape;77;p14"/>
          <p:cNvSpPr txBox="1"/>
          <p:nvPr>
            <p:ph type="title"/>
          </p:nvPr>
        </p:nvSpPr>
        <p:spPr>
          <a:xfrm>
            <a:off x="438954" y="560541"/>
            <a:ext cx="7886700" cy="451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CA"/>
              <a:t>Data </a:t>
            </a:r>
            <a:r>
              <a:rPr lang="en-CA"/>
              <a:t>Preprocessing: Missing Data</a:t>
            </a:r>
            <a:endParaRPr/>
          </a:p>
        </p:txBody>
      </p:sp>
      <p:pic>
        <p:nvPicPr>
          <p:cNvPr id="78" name="Google Shape;78;p14"/>
          <p:cNvPicPr preferRelativeResize="0"/>
          <p:nvPr/>
        </p:nvPicPr>
        <p:blipFill>
          <a:blip r:embed="rId3">
            <a:alphaModFix/>
          </a:blip>
          <a:stretch>
            <a:fillRect/>
          </a:stretch>
        </p:blipFill>
        <p:spPr>
          <a:xfrm>
            <a:off x="1214150" y="3298475"/>
            <a:ext cx="2198425" cy="1530624"/>
          </a:xfrm>
          <a:prstGeom prst="rect">
            <a:avLst/>
          </a:prstGeom>
          <a:noFill/>
          <a:ln>
            <a:noFill/>
          </a:ln>
        </p:spPr>
      </p:pic>
      <p:sp>
        <p:nvSpPr>
          <p:cNvPr id="79" name="Google Shape;79;p14"/>
          <p:cNvSpPr txBox="1"/>
          <p:nvPr/>
        </p:nvSpPr>
        <p:spPr>
          <a:xfrm>
            <a:off x="3744850" y="3298475"/>
            <a:ext cx="49425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CA"/>
              <a:t>Given that age is almost normally distributed, we also fill the missing value with mean(age)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5"/>
          <p:cNvSpPr txBox="1"/>
          <p:nvPr>
            <p:ph idx="1" type="body"/>
          </p:nvPr>
        </p:nvSpPr>
        <p:spPr>
          <a:xfrm>
            <a:off x="438954" y="1131888"/>
            <a:ext cx="7661400" cy="3697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CA"/>
              <a:t>We observed that Fare, Fare per Person, Age Fare Ratio data are extremely right-</a:t>
            </a:r>
            <a:r>
              <a:rPr lang="en-CA"/>
              <a:t>skewed.</a:t>
            </a:r>
            <a:endParaRPr/>
          </a:p>
          <a:p>
            <a:pPr indent="0" lvl="0" marL="0" rtl="0" algn="l">
              <a:spcBef>
                <a:spcPts val="0"/>
              </a:spcBef>
              <a:spcAft>
                <a:spcPts val="0"/>
              </a:spcAft>
              <a:buNone/>
            </a:pPr>
            <a:r>
              <a:t/>
            </a:r>
            <a:endParaRPr/>
          </a:p>
          <a:p>
            <a:pPr indent="0" lvl="0" marL="0" rtl="0" algn="l">
              <a:spcBef>
                <a:spcPts val="0"/>
              </a:spcBef>
              <a:spcAft>
                <a:spcPts val="0"/>
              </a:spcAft>
              <a:buNone/>
            </a:pPr>
            <a:r>
              <a:rPr lang="en-CA"/>
              <a:t>Therefore, we take the log of these data and attempt to normalize the data</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86" name="Google Shape;86;p15"/>
          <p:cNvSpPr txBox="1"/>
          <p:nvPr>
            <p:ph type="title"/>
          </p:nvPr>
        </p:nvSpPr>
        <p:spPr>
          <a:xfrm>
            <a:off x="438954" y="560541"/>
            <a:ext cx="7886700" cy="451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CA"/>
              <a:t>Data Preprocessing: Data Normalization</a:t>
            </a:r>
            <a:endParaRPr/>
          </a:p>
        </p:txBody>
      </p:sp>
      <p:pic>
        <p:nvPicPr>
          <p:cNvPr id="87" name="Google Shape;87;p15"/>
          <p:cNvPicPr preferRelativeResize="0"/>
          <p:nvPr/>
        </p:nvPicPr>
        <p:blipFill>
          <a:blip r:embed="rId3">
            <a:alphaModFix/>
          </a:blip>
          <a:stretch>
            <a:fillRect/>
          </a:stretch>
        </p:blipFill>
        <p:spPr>
          <a:xfrm>
            <a:off x="438950" y="2571750"/>
            <a:ext cx="3994150" cy="1474150"/>
          </a:xfrm>
          <a:prstGeom prst="rect">
            <a:avLst/>
          </a:prstGeom>
          <a:noFill/>
          <a:ln>
            <a:noFill/>
          </a:ln>
        </p:spPr>
      </p:pic>
      <p:pic>
        <p:nvPicPr>
          <p:cNvPr id="88" name="Google Shape;88;p15"/>
          <p:cNvPicPr preferRelativeResize="0"/>
          <p:nvPr/>
        </p:nvPicPr>
        <p:blipFill>
          <a:blip r:embed="rId4">
            <a:alphaModFix/>
          </a:blip>
          <a:stretch>
            <a:fillRect/>
          </a:stretch>
        </p:blipFill>
        <p:spPr>
          <a:xfrm>
            <a:off x="4766775" y="2571750"/>
            <a:ext cx="4159476" cy="1474149"/>
          </a:xfrm>
          <a:prstGeom prst="rect">
            <a:avLst/>
          </a:prstGeom>
          <a:noFill/>
          <a:ln>
            <a:noFill/>
          </a:ln>
        </p:spPr>
      </p:pic>
      <p:sp>
        <p:nvSpPr>
          <p:cNvPr id="89" name="Google Shape;89;p15"/>
          <p:cNvSpPr txBox="1"/>
          <p:nvPr/>
        </p:nvSpPr>
        <p:spPr>
          <a:xfrm>
            <a:off x="2743200" y="2171550"/>
            <a:ext cx="7087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CA"/>
              <a:t>From                                                             To</a:t>
            </a:r>
            <a:endParaRPr b="1"/>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6"/>
          <p:cNvSpPr txBox="1"/>
          <p:nvPr>
            <p:ph idx="1" type="body"/>
          </p:nvPr>
        </p:nvSpPr>
        <p:spPr>
          <a:xfrm>
            <a:off x="438954" y="1131888"/>
            <a:ext cx="7661400" cy="3697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CA" sz="1400">
                <a:solidFill>
                  <a:srgbClr val="000000"/>
                </a:solidFill>
              </a:rPr>
              <a:t>We retain </a:t>
            </a:r>
            <a:r>
              <a:rPr b="1" lang="en-CA" sz="1400">
                <a:solidFill>
                  <a:srgbClr val="000000"/>
                </a:solidFill>
              </a:rPr>
              <a:t>cabin_score</a:t>
            </a:r>
            <a:r>
              <a:rPr lang="en-CA" sz="1400">
                <a:solidFill>
                  <a:srgbClr val="000000"/>
                </a:solidFill>
              </a:rPr>
              <a:t> and </a:t>
            </a:r>
            <a:r>
              <a:rPr b="1" lang="en-CA" sz="1400">
                <a:solidFill>
                  <a:srgbClr val="000000"/>
                </a:solidFill>
              </a:rPr>
              <a:t>cabin_missing</a:t>
            </a:r>
            <a:r>
              <a:rPr lang="en-CA" sz="1400">
                <a:solidFill>
                  <a:srgbClr val="000000"/>
                </a:solidFill>
              </a:rPr>
              <a:t> as the only cabin-related features; all other cabin variables are removed.</a:t>
            </a:r>
            <a:br>
              <a:rPr lang="en-CA" sz="1400">
                <a:solidFill>
                  <a:srgbClr val="000000"/>
                </a:solidFill>
              </a:rPr>
            </a:br>
            <a:endParaRPr sz="1400">
              <a:solidFill>
                <a:srgbClr val="000000"/>
              </a:solidFill>
            </a:endParaRPr>
          </a:p>
          <a:p>
            <a:pPr indent="0" lvl="0" marL="0" rtl="0" algn="l">
              <a:spcBef>
                <a:spcPts val="0"/>
              </a:spcBef>
              <a:spcAft>
                <a:spcPts val="0"/>
              </a:spcAft>
              <a:buNone/>
            </a:pPr>
            <a:r>
              <a:rPr lang="en-CA" sz="1400">
                <a:solidFill>
                  <a:srgbClr val="000000"/>
                </a:solidFill>
              </a:rPr>
              <a:t>We drop untransformed variables (</a:t>
            </a:r>
            <a:r>
              <a:rPr b="1" lang="en-CA" sz="1400">
                <a:solidFill>
                  <a:srgbClr val="000000"/>
                </a:solidFill>
              </a:rPr>
              <a:t>Fare</a:t>
            </a:r>
            <a:r>
              <a:rPr lang="en-CA" sz="1400">
                <a:solidFill>
                  <a:srgbClr val="000000"/>
                </a:solidFill>
              </a:rPr>
              <a:t>, </a:t>
            </a:r>
            <a:r>
              <a:rPr b="1" lang="en-CA" sz="1400">
                <a:solidFill>
                  <a:srgbClr val="000000"/>
                </a:solidFill>
              </a:rPr>
              <a:t>fare_per_person</a:t>
            </a:r>
            <a:r>
              <a:rPr lang="en-CA" sz="1400">
                <a:solidFill>
                  <a:srgbClr val="000000"/>
                </a:solidFill>
              </a:rPr>
              <a:t>, </a:t>
            </a:r>
            <a:r>
              <a:rPr b="1" lang="en-CA" sz="1400">
                <a:solidFill>
                  <a:srgbClr val="000000"/>
                </a:solidFill>
              </a:rPr>
              <a:t>age_fare_ratio</a:t>
            </a:r>
            <a:r>
              <a:rPr lang="en-CA" sz="1400">
                <a:solidFill>
                  <a:srgbClr val="000000"/>
                </a:solidFill>
              </a:rPr>
              <a:t>) and identifier fields (</a:t>
            </a:r>
            <a:r>
              <a:rPr b="1" lang="en-CA" sz="1400">
                <a:solidFill>
                  <a:srgbClr val="000000"/>
                </a:solidFill>
              </a:rPr>
              <a:t>PassengerID</a:t>
            </a:r>
            <a:r>
              <a:rPr lang="en-CA" sz="1400">
                <a:solidFill>
                  <a:srgbClr val="000000"/>
                </a:solidFill>
              </a:rPr>
              <a:t>, </a:t>
            </a:r>
            <a:r>
              <a:rPr b="1" lang="en-CA" sz="1400">
                <a:solidFill>
                  <a:srgbClr val="000000"/>
                </a:solidFill>
              </a:rPr>
              <a:t>Name</a:t>
            </a:r>
            <a:r>
              <a:rPr lang="en-CA" sz="1400">
                <a:solidFill>
                  <a:srgbClr val="000000"/>
                </a:solidFill>
              </a:rPr>
              <a:t>, </a:t>
            </a:r>
            <a:r>
              <a:rPr b="1" lang="en-CA" sz="1400">
                <a:solidFill>
                  <a:srgbClr val="000000"/>
                </a:solidFill>
              </a:rPr>
              <a:t>Ticket</a:t>
            </a:r>
            <a:r>
              <a:rPr lang="en-CA" sz="1400">
                <a:solidFill>
                  <a:srgbClr val="000000"/>
                </a:solidFill>
              </a:rPr>
              <a:t>, </a:t>
            </a:r>
            <a:r>
              <a:rPr b="1" lang="en-CA" sz="1400">
                <a:solidFill>
                  <a:srgbClr val="000000"/>
                </a:solidFill>
              </a:rPr>
              <a:t>service_id</a:t>
            </a:r>
            <a:r>
              <a:rPr lang="en-CA" sz="1400">
                <a:solidFill>
                  <a:srgbClr val="000000"/>
                </a:solidFill>
              </a:rPr>
              <a:t>, </a:t>
            </a:r>
            <a:r>
              <a:rPr b="1" lang="en-CA" sz="1400">
                <a:solidFill>
                  <a:srgbClr val="000000"/>
                </a:solidFill>
              </a:rPr>
              <a:t>booking_reference</a:t>
            </a:r>
            <a:r>
              <a:rPr lang="en-CA" sz="1400">
                <a:solidFill>
                  <a:srgbClr val="000000"/>
                </a:solidFill>
              </a:rPr>
              <a:t>) to avoid data leakage and redundancy.</a:t>
            </a:r>
            <a:br>
              <a:rPr lang="en-CA" sz="1400">
                <a:solidFill>
                  <a:srgbClr val="000000"/>
                </a:solidFill>
              </a:rPr>
            </a:br>
            <a:endParaRPr sz="1400">
              <a:solidFill>
                <a:srgbClr val="000000"/>
              </a:solidFill>
            </a:endParaRPr>
          </a:p>
          <a:p>
            <a:pPr indent="0" lvl="0" marL="0" rtl="0" algn="l">
              <a:spcBef>
                <a:spcPts val="0"/>
              </a:spcBef>
              <a:spcAft>
                <a:spcPts val="0"/>
              </a:spcAft>
              <a:buNone/>
            </a:pPr>
            <a:r>
              <a:rPr lang="en-CA" sz="1400">
                <a:solidFill>
                  <a:srgbClr val="000000"/>
                </a:solidFill>
              </a:rPr>
              <a:t>Both </a:t>
            </a:r>
            <a:r>
              <a:rPr b="1" lang="en-CA" sz="1400">
                <a:solidFill>
                  <a:srgbClr val="000000"/>
                </a:solidFill>
              </a:rPr>
              <a:t>title</a:t>
            </a:r>
            <a:r>
              <a:rPr lang="en-CA" sz="1400">
                <a:solidFill>
                  <a:srgbClr val="000000"/>
                </a:solidFill>
              </a:rPr>
              <a:t> and </a:t>
            </a:r>
            <a:r>
              <a:rPr b="1" lang="en-CA" sz="1400">
                <a:solidFill>
                  <a:srgbClr val="000000"/>
                </a:solidFill>
              </a:rPr>
              <a:t>title_group</a:t>
            </a:r>
            <a:r>
              <a:rPr lang="en-CA" sz="1400">
                <a:solidFill>
                  <a:srgbClr val="000000"/>
                </a:solidFill>
              </a:rPr>
              <a:t> are kept for now; the final choice is left to individual modeling decisions.</a:t>
            </a:r>
            <a:br>
              <a:rPr lang="en-CA" sz="1400">
                <a:solidFill>
                  <a:srgbClr val="000000"/>
                </a:solidFill>
              </a:rPr>
            </a:br>
            <a:endParaRPr sz="1400">
              <a:solidFill>
                <a:srgbClr val="000000"/>
              </a:solidFill>
            </a:endParaRPr>
          </a:p>
          <a:p>
            <a:pPr indent="0" lvl="0" marL="0" rtl="0" algn="l">
              <a:spcBef>
                <a:spcPts val="0"/>
              </a:spcBef>
              <a:spcAft>
                <a:spcPts val="0"/>
              </a:spcAft>
              <a:buNone/>
            </a:pPr>
            <a:r>
              <a:rPr b="1" lang="en-CA" sz="1400">
                <a:solidFill>
                  <a:srgbClr val="000000"/>
                </a:solidFill>
              </a:rPr>
              <a:t>title_group</a:t>
            </a:r>
            <a:r>
              <a:rPr lang="en-CA" sz="1400">
                <a:solidFill>
                  <a:srgbClr val="000000"/>
                </a:solidFill>
              </a:rPr>
              <a:t> is a simplified (compressed) version of </a:t>
            </a:r>
            <a:r>
              <a:rPr b="1" lang="en-CA" sz="1400">
                <a:solidFill>
                  <a:srgbClr val="000000"/>
                </a:solidFill>
              </a:rPr>
              <a:t>title</a:t>
            </a:r>
            <a:r>
              <a:rPr lang="en-CA" sz="1400">
                <a:solidFill>
                  <a:srgbClr val="000000"/>
                </a:solidFill>
              </a:rPr>
              <a:t>.</a:t>
            </a:r>
            <a:endParaRPr sz="1400">
              <a:solidFill>
                <a:srgbClr val="000000"/>
              </a:solidFill>
            </a:endParaRPr>
          </a:p>
          <a:p>
            <a:pPr indent="0" lvl="0" marL="0" rtl="0" algn="l">
              <a:spcBef>
                <a:spcPts val="0"/>
              </a:spcBef>
              <a:spcAft>
                <a:spcPts val="0"/>
              </a:spcAft>
              <a:buNone/>
            </a:pPr>
            <a:r>
              <a:t/>
            </a:r>
            <a:endParaRPr/>
          </a:p>
        </p:txBody>
      </p:sp>
      <p:sp>
        <p:nvSpPr>
          <p:cNvPr id="96" name="Google Shape;96;p16"/>
          <p:cNvSpPr txBox="1"/>
          <p:nvPr>
            <p:ph type="title"/>
          </p:nvPr>
        </p:nvSpPr>
        <p:spPr>
          <a:xfrm>
            <a:off x="438954" y="560541"/>
            <a:ext cx="7886700" cy="451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CA"/>
              <a:t>Data Preprocessing: Dropping Columns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7"/>
          <p:cNvSpPr txBox="1"/>
          <p:nvPr>
            <p:ph type="title"/>
          </p:nvPr>
        </p:nvSpPr>
        <p:spPr>
          <a:xfrm>
            <a:off x="438954" y="560541"/>
            <a:ext cx="7886700" cy="451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CA"/>
              <a:t>Data Preprocessing: Splitting Data and Exporting</a:t>
            </a:r>
            <a:endParaRPr/>
          </a:p>
        </p:txBody>
      </p:sp>
      <p:pic>
        <p:nvPicPr>
          <p:cNvPr id="103" name="Google Shape;103;p17"/>
          <p:cNvPicPr preferRelativeResize="0"/>
          <p:nvPr/>
        </p:nvPicPr>
        <p:blipFill>
          <a:blip r:embed="rId3">
            <a:alphaModFix/>
          </a:blip>
          <a:stretch>
            <a:fillRect/>
          </a:stretch>
        </p:blipFill>
        <p:spPr>
          <a:xfrm>
            <a:off x="438938" y="1371588"/>
            <a:ext cx="5819775" cy="28860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8"/>
          <p:cNvSpPr txBox="1"/>
          <p:nvPr>
            <p:ph idx="1" type="body"/>
          </p:nvPr>
        </p:nvSpPr>
        <p:spPr>
          <a:xfrm>
            <a:off x="438954" y="1131888"/>
            <a:ext cx="7661400" cy="3697200"/>
          </a:xfrm>
          <a:prstGeom prst="rect">
            <a:avLst/>
          </a:prstGeom>
        </p:spPr>
        <p:txBody>
          <a:bodyPr anchorCtr="0" anchor="t" bIns="0" lIns="0" spcFirstLastPara="1" rIns="0" wrap="square" tIns="0">
            <a:noAutofit/>
          </a:bodyPr>
          <a:lstStyle/>
          <a:p>
            <a:pPr indent="0" lvl="0" marL="0" rtl="0" algn="l">
              <a:lnSpc>
                <a:spcPct val="90000"/>
              </a:lnSpc>
              <a:spcBef>
                <a:spcPts val="1000"/>
              </a:spcBef>
              <a:spcAft>
                <a:spcPts val="0"/>
              </a:spcAft>
              <a:buNone/>
            </a:pPr>
            <a:r>
              <a:rPr lang="en-CA" sz="2200">
                <a:solidFill>
                  <a:srgbClr val="000000"/>
                </a:solidFill>
              </a:rPr>
              <a:t>Why?</a:t>
            </a:r>
            <a:endParaRPr sz="2200">
              <a:solidFill>
                <a:srgbClr val="000000"/>
              </a:solidFill>
            </a:endParaRPr>
          </a:p>
          <a:p>
            <a:pPr indent="0" lvl="0" marL="0" rtl="0" algn="l">
              <a:lnSpc>
                <a:spcPct val="90000"/>
              </a:lnSpc>
              <a:spcBef>
                <a:spcPts val="1000"/>
              </a:spcBef>
              <a:spcAft>
                <a:spcPts val="0"/>
              </a:spcAft>
              <a:buNone/>
            </a:pPr>
            <a:r>
              <a:rPr lang="en-CA" sz="2200">
                <a:solidFill>
                  <a:srgbClr val="000000"/>
                </a:solidFill>
              </a:rPr>
              <a:t>•Binary outcome → logistic regression is a natural choice</a:t>
            </a:r>
            <a:endParaRPr sz="2200">
              <a:solidFill>
                <a:srgbClr val="000000"/>
              </a:solidFill>
            </a:endParaRPr>
          </a:p>
          <a:p>
            <a:pPr indent="0" lvl="0" marL="0" rtl="0" algn="l">
              <a:lnSpc>
                <a:spcPct val="90000"/>
              </a:lnSpc>
              <a:spcBef>
                <a:spcPts val="1000"/>
              </a:spcBef>
              <a:spcAft>
                <a:spcPts val="0"/>
              </a:spcAft>
              <a:buNone/>
            </a:pPr>
            <a:r>
              <a:rPr lang="en-CA" sz="2200">
                <a:solidFill>
                  <a:srgbClr val="000000"/>
                </a:solidFill>
              </a:rPr>
              <a:t>•Coefficients have clear interpretations (odds ratios)</a:t>
            </a:r>
            <a:endParaRPr sz="2200">
              <a:solidFill>
                <a:srgbClr val="000000"/>
              </a:solidFill>
            </a:endParaRPr>
          </a:p>
          <a:p>
            <a:pPr indent="0" lvl="0" marL="0" rtl="0" algn="l">
              <a:lnSpc>
                <a:spcPct val="90000"/>
              </a:lnSpc>
              <a:spcBef>
                <a:spcPts val="1000"/>
              </a:spcBef>
              <a:spcAft>
                <a:spcPts val="0"/>
              </a:spcAft>
              <a:buNone/>
            </a:pPr>
            <a:r>
              <a:rPr lang="en-CA" sz="2200">
                <a:solidFill>
                  <a:srgbClr val="000000"/>
                </a:solidFill>
              </a:rPr>
              <a:t>•Suitable for small-to-moderate sample sizes</a:t>
            </a:r>
            <a:endParaRPr sz="2200">
              <a:solidFill>
                <a:srgbClr val="000000"/>
              </a:solidFill>
            </a:endParaRPr>
          </a:p>
          <a:p>
            <a:pPr indent="0" lvl="0" marL="0" rtl="0" algn="l">
              <a:lnSpc>
                <a:spcPct val="90000"/>
              </a:lnSpc>
              <a:spcBef>
                <a:spcPts val="1000"/>
              </a:spcBef>
              <a:spcAft>
                <a:spcPts val="0"/>
              </a:spcAft>
              <a:buNone/>
            </a:pPr>
            <a:r>
              <a:rPr lang="en-CA" sz="2200">
                <a:solidFill>
                  <a:srgbClr val="000000"/>
                </a:solidFill>
              </a:rPr>
              <a:t>•Enables statistical inference and hypothesis testing</a:t>
            </a:r>
            <a:endParaRPr sz="900"/>
          </a:p>
        </p:txBody>
      </p:sp>
      <p:sp>
        <p:nvSpPr>
          <p:cNvPr id="110" name="Google Shape;110;p18"/>
          <p:cNvSpPr txBox="1"/>
          <p:nvPr>
            <p:ph type="title"/>
          </p:nvPr>
        </p:nvSpPr>
        <p:spPr>
          <a:xfrm>
            <a:off x="438954" y="560541"/>
            <a:ext cx="7886700" cy="451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CA"/>
              <a:t>Logistic Regression Method</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9"/>
          <p:cNvSpPr txBox="1"/>
          <p:nvPr>
            <p:ph idx="1" type="body"/>
          </p:nvPr>
        </p:nvSpPr>
        <p:spPr>
          <a:xfrm>
            <a:off x="438950" y="1371600"/>
            <a:ext cx="4133100" cy="3355200"/>
          </a:xfrm>
          <a:prstGeom prst="rect">
            <a:avLst/>
          </a:prstGeom>
        </p:spPr>
        <p:txBody>
          <a:bodyPr anchorCtr="0" anchor="t" bIns="0" lIns="0" spcFirstLastPara="1" rIns="0" wrap="square" tIns="0">
            <a:noAutofit/>
          </a:bodyPr>
          <a:lstStyle/>
          <a:p>
            <a:pPr indent="0" lvl="0" marL="0" rtl="0" algn="l">
              <a:lnSpc>
                <a:spcPct val="90000"/>
              </a:lnSpc>
              <a:spcBef>
                <a:spcPts val="0"/>
              </a:spcBef>
              <a:spcAft>
                <a:spcPts val="0"/>
              </a:spcAft>
              <a:buNone/>
            </a:pPr>
            <a:r>
              <a:rPr lang="en-CA" sz="1800">
                <a:solidFill>
                  <a:srgbClr val="000000"/>
                </a:solidFill>
              </a:rPr>
              <a:t>•Start from a full model</a:t>
            </a:r>
            <a:endParaRPr sz="1800">
              <a:solidFill>
                <a:srgbClr val="000000"/>
              </a:solidFill>
            </a:endParaRPr>
          </a:p>
          <a:p>
            <a:pPr indent="0" lvl="0" marL="0" rtl="0" algn="l">
              <a:lnSpc>
                <a:spcPct val="90000"/>
              </a:lnSpc>
              <a:spcBef>
                <a:spcPts val="600"/>
              </a:spcBef>
              <a:spcAft>
                <a:spcPts val="0"/>
              </a:spcAft>
              <a:buNone/>
            </a:pPr>
            <a:r>
              <a:t/>
            </a:r>
            <a:endParaRPr sz="1800">
              <a:solidFill>
                <a:srgbClr val="000000"/>
              </a:solidFill>
            </a:endParaRPr>
          </a:p>
          <a:p>
            <a:pPr indent="0" lvl="0" marL="0" rtl="0" algn="l">
              <a:lnSpc>
                <a:spcPct val="90000"/>
              </a:lnSpc>
              <a:spcBef>
                <a:spcPts val="600"/>
              </a:spcBef>
              <a:spcAft>
                <a:spcPts val="0"/>
              </a:spcAft>
              <a:buNone/>
            </a:pPr>
            <a:r>
              <a:rPr lang="en-CA" sz="1800">
                <a:solidFill>
                  <a:srgbClr val="000000"/>
                </a:solidFill>
              </a:rPr>
              <a:t>•Iteratively remove predictors</a:t>
            </a:r>
            <a:endParaRPr sz="1800">
              <a:solidFill>
                <a:srgbClr val="000000"/>
              </a:solidFill>
            </a:endParaRPr>
          </a:p>
          <a:p>
            <a:pPr indent="0" lvl="0" marL="0" rtl="0" algn="l">
              <a:lnSpc>
                <a:spcPct val="90000"/>
              </a:lnSpc>
              <a:spcBef>
                <a:spcPts val="600"/>
              </a:spcBef>
              <a:spcAft>
                <a:spcPts val="0"/>
              </a:spcAft>
              <a:buNone/>
            </a:pPr>
            <a:r>
              <a:t/>
            </a:r>
            <a:endParaRPr sz="1800">
              <a:solidFill>
                <a:srgbClr val="000000"/>
              </a:solidFill>
            </a:endParaRPr>
          </a:p>
          <a:p>
            <a:pPr indent="0" lvl="0" marL="0" rtl="0" algn="l">
              <a:lnSpc>
                <a:spcPct val="90000"/>
              </a:lnSpc>
              <a:spcBef>
                <a:spcPts val="600"/>
              </a:spcBef>
              <a:spcAft>
                <a:spcPts val="0"/>
              </a:spcAft>
              <a:buNone/>
            </a:pPr>
            <a:r>
              <a:rPr lang="en-CA" sz="1800">
                <a:solidFill>
                  <a:srgbClr val="000000"/>
                </a:solidFill>
              </a:rPr>
              <a:t>•Selection based on cross-validated AIC</a:t>
            </a:r>
            <a:endParaRPr sz="1800">
              <a:solidFill>
                <a:srgbClr val="000000"/>
              </a:solidFill>
            </a:endParaRPr>
          </a:p>
          <a:p>
            <a:pPr indent="0" lvl="0" marL="0" rtl="0" algn="l">
              <a:lnSpc>
                <a:spcPct val="90000"/>
              </a:lnSpc>
              <a:spcBef>
                <a:spcPts val="600"/>
              </a:spcBef>
              <a:spcAft>
                <a:spcPts val="0"/>
              </a:spcAft>
              <a:buNone/>
            </a:pPr>
            <a:r>
              <a:t/>
            </a:r>
            <a:endParaRPr sz="1800">
              <a:solidFill>
                <a:srgbClr val="000000"/>
              </a:solidFill>
            </a:endParaRPr>
          </a:p>
          <a:p>
            <a:pPr indent="0" lvl="0" marL="0" rtl="0" algn="l">
              <a:lnSpc>
                <a:spcPct val="90000"/>
              </a:lnSpc>
              <a:spcBef>
                <a:spcPts val="600"/>
              </a:spcBef>
              <a:spcAft>
                <a:spcPts val="0"/>
              </a:spcAft>
              <a:buNone/>
            </a:pPr>
            <a:r>
              <a:rPr lang="en-CA" sz="1800">
                <a:solidFill>
                  <a:srgbClr val="000000"/>
                </a:solidFill>
              </a:rPr>
              <a:t>•Balances model fit and complexity</a:t>
            </a:r>
            <a:endParaRPr sz="1800">
              <a:solidFill>
                <a:srgbClr val="000000"/>
              </a:solidFill>
            </a:endParaRPr>
          </a:p>
          <a:p>
            <a:pPr indent="0" lvl="0" marL="0" rtl="0" algn="l">
              <a:spcBef>
                <a:spcPts val="600"/>
              </a:spcBef>
              <a:spcAft>
                <a:spcPts val="0"/>
              </a:spcAft>
              <a:buNone/>
            </a:pPr>
            <a:r>
              <a:t/>
            </a:r>
            <a:endParaRPr/>
          </a:p>
        </p:txBody>
      </p:sp>
      <p:sp>
        <p:nvSpPr>
          <p:cNvPr id="117" name="Google Shape;117;p19"/>
          <p:cNvSpPr txBox="1"/>
          <p:nvPr>
            <p:ph type="title"/>
          </p:nvPr>
        </p:nvSpPr>
        <p:spPr>
          <a:xfrm>
            <a:off x="438954" y="560541"/>
            <a:ext cx="7886700" cy="451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CA"/>
              <a:t>Backward Stepwise Selection with CV-AIC</a:t>
            </a:r>
            <a:endParaRPr/>
          </a:p>
        </p:txBody>
      </p:sp>
      <p:pic>
        <p:nvPicPr>
          <p:cNvPr id="118" name="Google Shape;118;p19"/>
          <p:cNvPicPr preferRelativeResize="0"/>
          <p:nvPr/>
        </p:nvPicPr>
        <p:blipFill>
          <a:blip r:embed="rId3">
            <a:alphaModFix/>
          </a:blip>
          <a:stretch>
            <a:fillRect/>
          </a:stretch>
        </p:blipFill>
        <p:spPr>
          <a:xfrm>
            <a:off x="4572000" y="1200141"/>
            <a:ext cx="4267150" cy="290186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0"/>
          <p:cNvSpPr txBox="1"/>
          <p:nvPr>
            <p:ph idx="1" type="body"/>
          </p:nvPr>
        </p:nvSpPr>
        <p:spPr>
          <a:xfrm>
            <a:off x="438950" y="1131900"/>
            <a:ext cx="2690700" cy="2420100"/>
          </a:xfrm>
          <a:prstGeom prst="rect">
            <a:avLst/>
          </a:prstGeom>
        </p:spPr>
        <p:txBody>
          <a:bodyPr anchorCtr="0" anchor="t" bIns="0" lIns="0" spcFirstLastPara="1" rIns="0" wrap="square" tIns="0">
            <a:noAutofit/>
          </a:bodyPr>
          <a:lstStyle/>
          <a:p>
            <a:pPr indent="0" lvl="0" marL="0" rtl="0" algn="l">
              <a:lnSpc>
                <a:spcPct val="90000"/>
              </a:lnSpc>
              <a:spcBef>
                <a:spcPts val="1000"/>
              </a:spcBef>
              <a:spcAft>
                <a:spcPts val="0"/>
              </a:spcAft>
              <a:buNone/>
            </a:pPr>
            <a:r>
              <a:rPr lang="en-CA" sz="2800">
                <a:solidFill>
                  <a:srgbClr val="000000"/>
                </a:solidFill>
              </a:rPr>
              <a:t>•</a:t>
            </a:r>
            <a:r>
              <a:rPr lang="en-CA" sz="1800">
                <a:solidFill>
                  <a:srgbClr val="000000"/>
                </a:solidFill>
              </a:rPr>
              <a:t>We included all the variables during the first training</a:t>
            </a:r>
            <a:endParaRPr sz="1800">
              <a:solidFill>
                <a:srgbClr val="000000"/>
              </a:solidFill>
            </a:endParaRPr>
          </a:p>
          <a:p>
            <a:pPr indent="0" lvl="0" marL="0" rtl="0" algn="l">
              <a:spcBef>
                <a:spcPts val="0"/>
              </a:spcBef>
              <a:spcAft>
                <a:spcPts val="0"/>
              </a:spcAft>
              <a:buNone/>
            </a:pPr>
            <a:r>
              <a:t/>
            </a:r>
            <a:endParaRPr/>
          </a:p>
        </p:txBody>
      </p:sp>
      <p:sp>
        <p:nvSpPr>
          <p:cNvPr id="125" name="Google Shape;125;p20"/>
          <p:cNvSpPr txBox="1"/>
          <p:nvPr>
            <p:ph type="title"/>
          </p:nvPr>
        </p:nvSpPr>
        <p:spPr>
          <a:xfrm>
            <a:off x="438954" y="560541"/>
            <a:ext cx="7886700" cy="451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CA"/>
              <a:t>First Try of Logistic Regression Model</a:t>
            </a:r>
            <a:endParaRPr/>
          </a:p>
        </p:txBody>
      </p:sp>
      <p:pic>
        <p:nvPicPr>
          <p:cNvPr id="126" name="Google Shape;126;p20"/>
          <p:cNvPicPr preferRelativeResize="0"/>
          <p:nvPr/>
        </p:nvPicPr>
        <p:blipFill>
          <a:blip r:embed="rId3">
            <a:alphaModFix/>
          </a:blip>
          <a:stretch>
            <a:fillRect/>
          </a:stretch>
        </p:blipFill>
        <p:spPr>
          <a:xfrm>
            <a:off x="438950" y="2571747"/>
            <a:ext cx="3735925" cy="1486575"/>
          </a:xfrm>
          <a:prstGeom prst="rect">
            <a:avLst/>
          </a:prstGeom>
          <a:noFill/>
          <a:ln>
            <a:noFill/>
          </a:ln>
        </p:spPr>
      </p:pic>
      <p:pic>
        <p:nvPicPr>
          <p:cNvPr id="127" name="Google Shape;127;p20"/>
          <p:cNvPicPr preferRelativeResize="0"/>
          <p:nvPr/>
        </p:nvPicPr>
        <p:blipFill>
          <a:blip r:embed="rId4">
            <a:alphaModFix/>
          </a:blip>
          <a:stretch>
            <a:fillRect/>
          </a:stretch>
        </p:blipFill>
        <p:spPr>
          <a:xfrm>
            <a:off x="4394550" y="1020111"/>
            <a:ext cx="3835051" cy="1731675"/>
          </a:xfrm>
          <a:prstGeom prst="rect">
            <a:avLst/>
          </a:prstGeom>
          <a:noFill/>
          <a:ln>
            <a:noFill/>
          </a:ln>
        </p:spPr>
      </p:pic>
      <p:pic>
        <p:nvPicPr>
          <p:cNvPr id="128" name="Google Shape;128;p20"/>
          <p:cNvPicPr preferRelativeResize="0"/>
          <p:nvPr/>
        </p:nvPicPr>
        <p:blipFill>
          <a:blip r:embed="rId5">
            <a:alphaModFix/>
          </a:blip>
          <a:stretch>
            <a:fillRect/>
          </a:stretch>
        </p:blipFill>
        <p:spPr>
          <a:xfrm>
            <a:off x="4327275" y="2904177"/>
            <a:ext cx="3998374" cy="161169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1"/>
          <p:cNvSpPr txBox="1"/>
          <p:nvPr>
            <p:ph type="title"/>
          </p:nvPr>
        </p:nvSpPr>
        <p:spPr>
          <a:xfrm>
            <a:off x="438954" y="560541"/>
            <a:ext cx="7886700" cy="451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CA"/>
              <a:t>Performance on Test Data Prediction</a:t>
            </a:r>
            <a:endParaRPr/>
          </a:p>
        </p:txBody>
      </p:sp>
      <p:pic>
        <p:nvPicPr>
          <p:cNvPr id="135" name="Google Shape;135;p21"/>
          <p:cNvPicPr preferRelativeResize="0"/>
          <p:nvPr/>
        </p:nvPicPr>
        <p:blipFill>
          <a:blip r:embed="rId3">
            <a:alphaModFix/>
          </a:blip>
          <a:stretch>
            <a:fillRect/>
          </a:stretch>
        </p:blipFill>
        <p:spPr>
          <a:xfrm>
            <a:off x="438950" y="1012349"/>
            <a:ext cx="3453550" cy="3530049"/>
          </a:xfrm>
          <a:prstGeom prst="rect">
            <a:avLst/>
          </a:prstGeom>
          <a:noFill/>
          <a:ln>
            <a:noFill/>
          </a:ln>
        </p:spPr>
      </p:pic>
      <p:pic>
        <p:nvPicPr>
          <p:cNvPr id="136" name="Google Shape;136;p21"/>
          <p:cNvPicPr preferRelativeResize="0"/>
          <p:nvPr/>
        </p:nvPicPr>
        <p:blipFill>
          <a:blip r:embed="rId4">
            <a:alphaModFix/>
          </a:blip>
          <a:stretch>
            <a:fillRect/>
          </a:stretch>
        </p:blipFill>
        <p:spPr>
          <a:xfrm>
            <a:off x="4044900" y="1164750"/>
            <a:ext cx="4742308" cy="33776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2"/>
          <p:cNvSpPr txBox="1"/>
          <p:nvPr>
            <p:ph idx="1" type="body"/>
          </p:nvPr>
        </p:nvSpPr>
        <p:spPr>
          <a:xfrm>
            <a:off x="438952" y="1131900"/>
            <a:ext cx="4659300" cy="3697200"/>
          </a:xfrm>
          <a:prstGeom prst="rect">
            <a:avLst/>
          </a:prstGeom>
        </p:spPr>
        <p:txBody>
          <a:bodyPr anchorCtr="0" anchor="t" bIns="0" lIns="0" spcFirstLastPara="1" rIns="0" wrap="square" tIns="0">
            <a:noAutofit/>
          </a:bodyPr>
          <a:lstStyle/>
          <a:p>
            <a:pPr indent="0" lvl="0" marL="0" rtl="0" algn="l">
              <a:lnSpc>
                <a:spcPct val="90000"/>
              </a:lnSpc>
              <a:spcBef>
                <a:spcPts val="1000"/>
              </a:spcBef>
              <a:spcAft>
                <a:spcPts val="0"/>
              </a:spcAft>
              <a:buNone/>
            </a:pPr>
            <a:r>
              <a:rPr lang="en-CA">
                <a:solidFill>
                  <a:srgbClr val="000000"/>
                </a:solidFill>
              </a:rPr>
              <a:t>•Let’s look at all the misclassified samples:</a:t>
            </a:r>
            <a:endParaRPr>
              <a:solidFill>
                <a:srgbClr val="000000"/>
              </a:solidFill>
            </a:endParaRPr>
          </a:p>
          <a:p>
            <a:pPr indent="0" lvl="0" marL="0" rtl="0" algn="l">
              <a:lnSpc>
                <a:spcPct val="90000"/>
              </a:lnSpc>
              <a:spcBef>
                <a:spcPts val="1000"/>
              </a:spcBef>
              <a:spcAft>
                <a:spcPts val="0"/>
              </a:spcAft>
              <a:buNone/>
            </a:pPr>
            <a:r>
              <a:t/>
            </a:r>
            <a:endParaRPr>
              <a:solidFill>
                <a:srgbClr val="000000"/>
              </a:solidFill>
            </a:endParaRPr>
          </a:p>
          <a:p>
            <a:pPr indent="0" lvl="0" marL="0" rtl="0" algn="l">
              <a:lnSpc>
                <a:spcPct val="90000"/>
              </a:lnSpc>
              <a:spcBef>
                <a:spcPts val="1000"/>
              </a:spcBef>
              <a:spcAft>
                <a:spcPts val="0"/>
              </a:spcAft>
              <a:buNone/>
            </a:pPr>
            <a:r>
              <a:rPr lang="en-CA">
                <a:solidFill>
                  <a:srgbClr val="000000"/>
                </a:solidFill>
              </a:rPr>
              <a:t>•There are 6 out of 24 passengers titled Master with Survived = 1 and were misclassified to Survived = 0</a:t>
            </a:r>
            <a:endParaRPr>
              <a:solidFill>
                <a:srgbClr val="000000"/>
              </a:solidFill>
            </a:endParaRPr>
          </a:p>
          <a:p>
            <a:pPr indent="0" lvl="0" marL="0" rtl="0" algn="l">
              <a:lnSpc>
                <a:spcPct val="90000"/>
              </a:lnSpc>
              <a:spcBef>
                <a:spcPts val="1000"/>
              </a:spcBef>
              <a:spcAft>
                <a:spcPts val="0"/>
              </a:spcAft>
              <a:buNone/>
            </a:pPr>
            <a:r>
              <a:t/>
            </a:r>
            <a:endParaRPr>
              <a:solidFill>
                <a:srgbClr val="000000"/>
              </a:solidFill>
            </a:endParaRPr>
          </a:p>
          <a:p>
            <a:pPr indent="0" lvl="0" marL="0" rtl="0" algn="l">
              <a:lnSpc>
                <a:spcPct val="90000"/>
              </a:lnSpc>
              <a:spcBef>
                <a:spcPts val="1000"/>
              </a:spcBef>
              <a:spcAft>
                <a:spcPts val="0"/>
              </a:spcAft>
              <a:buNone/>
            </a:pPr>
            <a:r>
              <a:rPr lang="en-CA">
                <a:solidFill>
                  <a:srgbClr val="000000"/>
                </a:solidFill>
              </a:rPr>
              <a:t>•They are misclassified because their predicted survival possibility was greatly reduced by their Male gender. However, they did have a higher survival rate due to their social status and age.</a:t>
            </a:r>
            <a:endParaRPr>
              <a:solidFill>
                <a:srgbClr val="000000"/>
              </a:solidFill>
            </a:endParaRPr>
          </a:p>
          <a:p>
            <a:pPr indent="0" lvl="0" marL="0" rtl="0" algn="l">
              <a:spcBef>
                <a:spcPts val="0"/>
              </a:spcBef>
              <a:spcAft>
                <a:spcPts val="0"/>
              </a:spcAft>
              <a:buNone/>
            </a:pPr>
            <a:r>
              <a:t/>
            </a:r>
            <a:endParaRPr/>
          </a:p>
        </p:txBody>
      </p:sp>
      <p:sp>
        <p:nvSpPr>
          <p:cNvPr id="143" name="Google Shape;143;p22"/>
          <p:cNvSpPr txBox="1"/>
          <p:nvPr>
            <p:ph type="title"/>
          </p:nvPr>
        </p:nvSpPr>
        <p:spPr>
          <a:xfrm>
            <a:off x="438954" y="560541"/>
            <a:ext cx="7886700" cy="451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CA"/>
              <a:t>Can we do better?</a:t>
            </a:r>
            <a:endParaRPr/>
          </a:p>
        </p:txBody>
      </p:sp>
      <p:pic>
        <p:nvPicPr>
          <p:cNvPr id="144" name="Google Shape;144;p22"/>
          <p:cNvPicPr preferRelativeResize="0"/>
          <p:nvPr/>
        </p:nvPicPr>
        <p:blipFill>
          <a:blip r:embed="rId3">
            <a:alphaModFix/>
          </a:blip>
          <a:stretch>
            <a:fillRect/>
          </a:stretch>
        </p:blipFill>
        <p:spPr>
          <a:xfrm>
            <a:off x="6016874" y="86150"/>
            <a:ext cx="1102401" cy="474294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3"/>
          <p:cNvSpPr txBox="1"/>
          <p:nvPr>
            <p:ph idx="1" type="body"/>
          </p:nvPr>
        </p:nvSpPr>
        <p:spPr>
          <a:xfrm>
            <a:off x="438954" y="1131888"/>
            <a:ext cx="7661400" cy="3697200"/>
          </a:xfrm>
          <a:prstGeom prst="rect">
            <a:avLst/>
          </a:prstGeom>
        </p:spPr>
        <p:txBody>
          <a:bodyPr anchorCtr="0" anchor="t" bIns="0" lIns="0" spcFirstLastPara="1" rIns="0" wrap="square" tIns="0">
            <a:noAutofit/>
          </a:bodyPr>
          <a:lstStyle/>
          <a:p>
            <a:pPr indent="0" lvl="0" marL="0" rtl="0" algn="l">
              <a:lnSpc>
                <a:spcPct val="90000"/>
              </a:lnSpc>
              <a:spcBef>
                <a:spcPts val="1000"/>
              </a:spcBef>
              <a:spcAft>
                <a:spcPts val="0"/>
              </a:spcAft>
              <a:buNone/>
            </a:pPr>
            <a:r>
              <a:rPr lang="en-CA" sz="2000">
                <a:solidFill>
                  <a:srgbClr val="000000"/>
                </a:solidFill>
              </a:rPr>
              <a:t>•We add a new column ‘Master’ to determine whether the passenger is titled Master or not. Then we train the model again.</a:t>
            </a:r>
            <a:endParaRPr sz="2000">
              <a:solidFill>
                <a:srgbClr val="000000"/>
              </a:solidFill>
            </a:endParaRPr>
          </a:p>
          <a:p>
            <a:pPr indent="0" lvl="0" marL="0" rtl="0" algn="l">
              <a:spcBef>
                <a:spcPts val="0"/>
              </a:spcBef>
              <a:spcAft>
                <a:spcPts val="0"/>
              </a:spcAft>
              <a:buNone/>
            </a:pPr>
            <a:r>
              <a:t/>
            </a:r>
            <a:endParaRPr sz="700"/>
          </a:p>
        </p:txBody>
      </p:sp>
      <p:sp>
        <p:nvSpPr>
          <p:cNvPr id="151" name="Google Shape;151;p23"/>
          <p:cNvSpPr txBox="1"/>
          <p:nvPr>
            <p:ph type="title"/>
          </p:nvPr>
        </p:nvSpPr>
        <p:spPr>
          <a:xfrm>
            <a:off x="438954" y="560541"/>
            <a:ext cx="7886700" cy="451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CA"/>
              <a:t>Second Try of Logistic Regression</a:t>
            </a:r>
            <a:endParaRPr/>
          </a:p>
        </p:txBody>
      </p:sp>
      <p:pic>
        <p:nvPicPr>
          <p:cNvPr id="152" name="Google Shape;152;p23"/>
          <p:cNvPicPr preferRelativeResize="0"/>
          <p:nvPr/>
        </p:nvPicPr>
        <p:blipFill>
          <a:blip r:embed="rId3">
            <a:alphaModFix/>
          </a:blip>
          <a:stretch>
            <a:fillRect/>
          </a:stretch>
        </p:blipFill>
        <p:spPr>
          <a:xfrm>
            <a:off x="438950" y="2759552"/>
            <a:ext cx="7661399" cy="2122511"/>
          </a:xfrm>
          <a:prstGeom prst="rect">
            <a:avLst/>
          </a:prstGeom>
          <a:noFill/>
          <a:ln>
            <a:noFill/>
          </a:ln>
        </p:spPr>
      </p:pic>
      <p:pic>
        <p:nvPicPr>
          <p:cNvPr id="153" name="Google Shape;153;p23"/>
          <p:cNvPicPr preferRelativeResize="0"/>
          <p:nvPr/>
        </p:nvPicPr>
        <p:blipFill rotWithShape="1">
          <a:blip r:embed="rId4">
            <a:alphaModFix/>
          </a:blip>
          <a:srcRect b="0" l="-785" r="50452" t="0"/>
          <a:stretch/>
        </p:blipFill>
        <p:spPr>
          <a:xfrm>
            <a:off x="680875" y="1831900"/>
            <a:ext cx="5818799" cy="6865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4"/>
          <p:cNvSpPr txBox="1"/>
          <p:nvPr>
            <p:ph type="title"/>
          </p:nvPr>
        </p:nvSpPr>
        <p:spPr>
          <a:xfrm>
            <a:off x="438954" y="560541"/>
            <a:ext cx="7886700" cy="451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CA"/>
              <a:t>Performance on Test Data Prediction</a:t>
            </a:r>
            <a:endParaRPr/>
          </a:p>
        </p:txBody>
      </p:sp>
      <p:pic>
        <p:nvPicPr>
          <p:cNvPr id="160" name="Google Shape;160;p24"/>
          <p:cNvPicPr preferRelativeResize="0"/>
          <p:nvPr/>
        </p:nvPicPr>
        <p:blipFill>
          <a:blip r:embed="rId3">
            <a:alphaModFix/>
          </a:blip>
          <a:stretch>
            <a:fillRect/>
          </a:stretch>
        </p:blipFill>
        <p:spPr>
          <a:xfrm>
            <a:off x="619975" y="1127824"/>
            <a:ext cx="3653949" cy="3427600"/>
          </a:xfrm>
          <a:prstGeom prst="rect">
            <a:avLst/>
          </a:prstGeom>
          <a:noFill/>
          <a:ln>
            <a:noFill/>
          </a:ln>
        </p:spPr>
      </p:pic>
      <p:pic>
        <p:nvPicPr>
          <p:cNvPr id="161" name="Google Shape;161;p24"/>
          <p:cNvPicPr preferRelativeResize="0"/>
          <p:nvPr/>
        </p:nvPicPr>
        <p:blipFill>
          <a:blip r:embed="rId4">
            <a:alphaModFix/>
          </a:blip>
          <a:stretch>
            <a:fillRect/>
          </a:stretch>
        </p:blipFill>
        <p:spPr>
          <a:xfrm>
            <a:off x="4192525" y="1191900"/>
            <a:ext cx="4270176" cy="308614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5"/>
          <p:cNvSpPr txBox="1"/>
          <p:nvPr>
            <p:ph idx="1" type="body"/>
          </p:nvPr>
        </p:nvSpPr>
        <p:spPr>
          <a:xfrm>
            <a:off x="438954" y="1131888"/>
            <a:ext cx="7661400" cy="3697200"/>
          </a:xfrm>
          <a:prstGeom prst="rect">
            <a:avLst/>
          </a:prstGeom>
        </p:spPr>
        <p:txBody>
          <a:bodyPr anchorCtr="0" anchor="t" bIns="0" lIns="0" spcFirstLastPara="1" rIns="0" wrap="square" tIns="0">
            <a:noAutofit/>
          </a:bodyPr>
          <a:lstStyle/>
          <a:p>
            <a:pPr indent="0" lvl="0" marL="0" rtl="0" algn="l">
              <a:lnSpc>
                <a:spcPct val="90000"/>
              </a:lnSpc>
              <a:spcBef>
                <a:spcPts val="1000"/>
              </a:spcBef>
              <a:spcAft>
                <a:spcPts val="0"/>
              </a:spcAft>
              <a:buNone/>
            </a:pPr>
            <a:r>
              <a:rPr lang="en-CA" sz="1900">
                <a:solidFill>
                  <a:srgbClr val="000000"/>
                </a:solidFill>
              </a:rPr>
              <a:t>•Sib and Spouse + Parent and Children is highly correlated to family_size variable, can we remove one or two of them?</a:t>
            </a:r>
            <a:endParaRPr sz="1900">
              <a:solidFill>
                <a:srgbClr val="000000"/>
              </a:solidFill>
            </a:endParaRPr>
          </a:p>
          <a:p>
            <a:pPr indent="0" lvl="0" marL="0" rtl="0" algn="l">
              <a:lnSpc>
                <a:spcPct val="90000"/>
              </a:lnSpc>
              <a:spcBef>
                <a:spcPts val="1000"/>
              </a:spcBef>
              <a:spcAft>
                <a:spcPts val="0"/>
              </a:spcAft>
              <a:buNone/>
            </a:pPr>
            <a:r>
              <a:rPr lang="en-CA" sz="1900">
                <a:solidFill>
                  <a:srgbClr val="000000"/>
                </a:solidFill>
              </a:rPr>
              <a:t>•Let’s remove family_size from the full_model and do the training</a:t>
            </a:r>
            <a:endParaRPr sz="1900">
              <a:solidFill>
                <a:srgbClr val="000000"/>
              </a:solidFill>
            </a:endParaRPr>
          </a:p>
          <a:p>
            <a:pPr indent="0" lvl="0" marL="0" rtl="0" algn="l">
              <a:spcBef>
                <a:spcPts val="0"/>
              </a:spcBef>
              <a:spcAft>
                <a:spcPts val="0"/>
              </a:spcAft>
              <a:buNone/>
            </a:pPr>
            <a:r>
              <a:t/>
            </a:r>
            <a:endParaRPr sz="600"/>
          </a:p>
        </p:txBody>
      </p:sp>
      <p:sp>
        <p:nvSpPr>
          <p:cNvPr id="168" name="Google Shape;168;p25"/>
          <p:cNvSpPr txBox="1"/>
          <p:nvPr>
            <p:ph type="title"/>
          </p:nvPr>
        </p:nvSpPr>
        <p:spPr>
          <a:xfrm>
            <a:off x="438954" y="560541"/>
            <a:ext cx="7886700" cy="451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CA"/>
              <a:t>Risk of </a:t>
            </a:r>
            <a:r>
              <a:rPr lang="en-CA"/>
              <a:t>Multicollinearity</a:t>
            </a:r>
            <a:r>
              <a:rPr lang="en-CA"/>
              <a:t> (Third Try)</a:t>
            </a:r>
            <a:endParaRPr/>
          </a:p>
        </p:txBody>
      </p:sp>
      <p:pic>
        <p:nvPicPr>
          <p:cNvPr id="169" name="Google Shape;169;p25"/>
          <p:cNvPicPr preferRelativeResize="0"/>
          <p:nvPr/>
        </p:nvPicPr>
        <p:blipFill>
          <a:blip r:embed="rId3">
            <a:alphaModFix/>
          </a:blip>
          <a:stretch>
            <a:fillRect/>
          </a:stretch>
        </p:blipFill>
        <p:spPr>
          <a:xfrm>
            <a:off x="1267075" y="2228851"/>
            <a:ext cx="5861299" cy="24641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6"/>
          <p:cNvSpPr txBox="1"/>
          <p:nvPr>
            <p:ph idx="1" type="body"/>
          </p:nvPr>
        </p:nvSpPr>
        <p:spPr>
          <a:xfrm>
            <a:off x="3659204" y="1200138"/>
            <a:ext cx="7661400" cy="36972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CA" sz="1600">
                <a:solidFill>
                  <a:srgbClr val="000000"/>
                </a:solidFill>
              </a:rPr>
              <a:t>Same accuracy rate as the second try, but fewer predictors</a:t>
            </a:r>
            <a:endParaRPr sz="1600">
              <a:solidFill>
                <a:srgbClr val="000000"/>
              </a:solidFill>
            </a:endParaRPr>
          </a:p>
          <a:p>
            <a:pPr indent="0" lvl="0" marL="0" rtl="0" algn="l">
              <a:spcBef>
                <a:spcPts val="0"/>
              </a:spcBef>
              <a:spcAft>
                <a:spcPts val="0"/>
              </a:spcAft>
              <a:buNone/>
            </a:pPr>
            <a:r>
              <a:t/>
            </a:r>
            <a:endParaRPr sz="300"/>
          </a:p>
        </p:txBody>
      </p:sp>
      <p:sp>
        <p:nvSpPr>
          <p:cNvPr id="176" name="Google Shape;176;p26"/>
          <p:cNvSpPr txBox="1"/>
          <p:nvPr>
            <p:ph type="title"/>
          </p:nvPr>
        </p:nvSpPr>
        <p:spPr>
          <a:xfrm>
            <a:off x="438954" y="560541"/>
            <a:ext cx="7886700" cy="451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CA"/>
              <a:t>Performance</a:t>
            </a:r>
            <a:r>
              <a:rPr lang="en-CA"/>
              <a:t> on Test Data Prediction</a:t>
            </a:r>
            <a:endParaRPr/>
          </a:p>
        </p:txBody>
      </p:sp>
      <p:pic>
        <p:nvPicPr>
          <p:cNvPr id="177" name="Google Shape;177;p26"/>
          <p:cNvPicPr preferRelativeResize="0"/>
          <p:nvPr/>
        </p:nvPicPr>
        <p:blipFill>
          <a:blip r:embed="rId3">
            <a:alphaModFix/>
          </a:blip>
          <a:stretch>
            <a:fillRect/>
          </a:stretch>
        </p:blipFill>
        <p:spPr>
          <a:xfrm>
            <a:off x="513652" y="1279725"/>
            <a:ext cx="3071224" cy="3059324"/>
          </a:xfrm>
          <a:prstGeom prst="rect">
            <a:avLst/>
          </a:prstGeom>
          <a:noFill/>
          <a:ln>
            <a:noFill/>
          </a:ln>
        </p:spPr>
      </p:pic>
      <p:pic>
        <p:nvPicPr>
          <p:cNvPr id="178" name="Google Shape;178;p26"/>
          <p:cNvPicPr preferRelativeResize="0"/>
          <p:nvPr/>
        </p:nvPicPr>
        <p:blipFill>
          <a:blip r:embed="rId4">
            <a:alphaModFix/>
          </a:blip>
          <a:stretch>
            <a:fillRect/>
          </a:stretch>
        </p:blipFill>
        <p:spPr>
          <a:xfrm>
            <a:off x="3785648" y="1604725"/>
            <a:ext cx="4540001" cy="329262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7"/>
          <p:cNvSpPr txBox="1"/>
          <p:nvPr>
            <p:ph type="title"/>
          </p:nvPr>
        </p:nvSpPr>
        <p:spPr>
          <a:xfrm>
            <a:off x="438954" y="560541"/>
            <a:ext cx="7886700" cy="451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CA"/>
              <a:t>Final Model:</a:t>
            </a:r>
            <a:endParaRPr/>
          </a:p>
        </p:txBody>
      </p:sp>
      <p:pic>
        <p:nvPicPr>
          <p:cNvPr id="185" name="Google Shape;185;p27"/>
          <p:cNvPicPr preferRelativeResize="0"/>
          <p:nvPr/>
        </p:nvPicPr>
        <p:blipFill>
          <a:blip r:embed="rId3">
            <a:alphaModFix/>
          </a:blip>
          <a:stretch>
            <a:fillRect/>
          </a:stretch>
        </p:blipFill>
        <p:spPr>
          <a:xfrm>
            <a:off x="3778672" y="252025"/>
            <a:ext cx="4359024" cy="2924951"/>
          </a:xfrm>
          <a:prstGeom prst="rect">
            <a:avLst/>
          </a:prstGeom>
          <a:noFill/>
          <a:ln>
            <a:noFill/>
          </a:ln>
        </p:spPr>
      </p:pic>
      <p:pic>
        <p:nvPicPr>
          <p:cNvPr id="186" name="Google Shape;186;p27"/>
          <p:cNvPicPr preferRelativeResize="0"/>
          <p:nvPr/>
        </p:nvPicPr>
        <p:blipFill>
          <a:blip r:embed="rId4">
            <a:alphaModFix/>
          </a:blip>
          <a:stretch>
            <a:fillRect/>
          </a:stretch>
        </p:blipFill>
        <p:spPr>
          <a:xfrm>
            <a:off x="49225" y="3348766"/>
            <a:ext cx="9144001" cy="128346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8"/>
          <p:cNvSpPr txBox="1"/>
          <p:nvPr>
            <p:ph idx="1" type="body"/>
          </p:nvPr>
        </p:nvSpPr>
        <p:spPr>
          <a:xfrm>
            <a:off x="438954" y="1131888"/>
            <a:ext cx="4997100" cy="3697200"/>
          </a:xfrm>
          <a:prstGeom prst="rect">
            <a:avLst/>
          </a:prstGeom>
          <a:noFill/>
          <a:ln>
            <a:noFill/>
          </a:ln>
        </p:spPr>
        <p:txBody>
          <a:bodyPr anchorCtr="0" anchor="t" bIns="0" lIns="0" spcFirstLastPara="1" rIns="0" wrap="square" tIns="0">
            <a:noAutofit/>
          </a:bodyPr>
          <a:lstStyle/>
          <a:p>
            <a:pPr indent="-285750" lvl="0" marL="285750" rtl="0" algn="l">
              <a:lnSpc>
                <a:spcPct val="130000"/>
              </a:lnSpc>
              <a:spcBef>
                <a:spcPts val="525"/>
              </a:spcBef>
              <a:spcAft>
                <a:spcPts val="0"/>
              </a:spcAft>
              <a:buClr>
                <a:schemeClr val="dk1"/>
              </a:buClr>
              <a:buSzPts val="1500"/>
              <a:buFont typeface="Arial"/>
              <a:buChar char="•"/>
            </a:pPr>
            <a:r>
              <a:rPr lang="en-CA"/>
              <a:t>We chose to do a random forest model as it’s good for prediction accuracy, can handle many kinds of predictor values, and very efficient in computational resources</a:t>
            </a:r>
            <a:endParaRPr/>
          </a:p>
          <a:p>
            <a:pPr indent="-285750" lvl="0" marL="285750" rtl="0" algn="l">
              <a:lnSpc>
                <a:spcPct val="130000"/>
              </a:lnSpc>
              <a:spcBef>
                <a:spcPts val="525"/>
              </a:spcBef>
              <a:spcAft>
                <a:spcPts val="0"/>
              </a:spcAft>
              <a:buSzPts val="1500"/>
              <a:buChar char="•"/>
            </a:pPr>
            <a:r>
              <a:rPr lang="en-CA"/>
              <a:t>Start off with a basic model with basic parameters to see general accuracy</a:t>
            </a:r>
            <a:endParaRPr/>
          </a:p>
          <a:p>
            <a:pPr indent="-285750" lvl="0" marL="285750" rtl="0" algn="l">
              <a:lnSpc>
                <a:spcPct val="130000"/>
              </a:lnSpc>
              <a:spcBef>
                <a:spcPts val="525"/>
              </a:spcBef>
              <a:spcAft>
                <a:spcPts val="0"/>
              </a:spcAft>
              <a:buSzPts val="1500"/>
              <a:buChar char="•"/>
            </a:pPr>
            <a:r>
              <a:rPr lang="en-CA"/>
              <a:t>Used CV to generate optimal parameters based on training data</a:t>
            </a:r>
            <a:endParaRPr/>
          </a:p>
          <a:p>
            <a:pPr indent="-285750" lvl="0" marL="285750" rtl="0" algn="l">
              <a:lnSpc>
                <a:spcPct val="130000"/>
              </a:lnSpc>
              <a:spcBef>
                <a:spcPts val="525"/>
              </a:spcBef>
              <a:spcAft>
                <a:spcPts val="0"/>
              </a:spcAft>
              <a:buSzPts val="1500"/>
              <a:buChar char="•"/>
            </a:pPr>
            <a:r>
              <a:rPr lang="en-CA"/>
              <a:t>Generated final model off the CV parameters, looked at accuracy, and also generated graphs</a:t>
            </a:r>
            <a:endParaRPr/>
          </a:p>
        </p:txBody>
      </p:sp>
      <p:sp>
        <p:nvSpPr>
          <p:cNvPr id="192" name="Google Shape;192;p28"/>
          <p:cNvSpPr txBox="1"/>
          <p:nvPr>
            <p:ph type="title"/>
          </p:nvPr>
        </p:nvSpPr>
        <p:spPr>
          <a:xfrm>
            <a:off x="438954" y="560541"/>
            <a:ext cx="7886700" cy="45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CA" sz="2800">
                <a:solidFill>
                  <a:srgbClr val="0077C8"/>
                </a:solidFill>
              </a:rPr>
              <a:t>Random Forest Model</a:t>
            </a:r>
            <a:endParaRPr sz="28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9"/>
          <p:cNvSpPr txBox="1"/>
          <p:nvPr>
            <p:ph idx="1" type="body"/>
          </p:nvPr>
        </p:nvSpPr>
        <p:spPr>
          <a:xfrm>
            <a:off x="438954" y="1131888"/>
            <a:ext cx="4997100" cy="3697200"/>
          </a:xfrm>
          <a:prstGeom prst="rect">
            <a:avLst/>
          </a:prstGeom>
          <a:noFill/>
          <a:ln>
            <a:noFill/>
          </a:ln>
        </p:spPr>
        <p:txBody>
          <a:bodyPr anchorCtr="0" anchor="t" bIns="0" lIns="0" spcFirstLastPara="1" rIns="0" wrap="square" tIns="0">
            <a:noAutofit/>
          </a:bodyPr>
          <a:lstStyle/>
          <a:p>
            <a:pPr indent="-285750" lvl="0" marL="285750" rtl="0" algn="l">
              <a:lnSpc>
                <a:spcPct val="130000"/>
              </a:lnSpc>
              <a:spcBef>
                <a:spcPts val="525"/>
              </a:spcBef>
              <a:spcAft>
                <a:spcPts val="0"/>
              </a:spcAft>
              <a:buClr>
                <a:schemeClr val="dk1"/>
              </a:buClr>
              <a:buSzPts val="1500"/>
              <a:buFont typeface="Arial"/>
              <a:buChar char="•"/>
            </a:pPr>
            <a:r>
              <a:rPr lang="en-CA"/>
              <a:t>Usually not needed as the idea of random forest has feature selection built in</a:t>
            </a:r>
            <a:endParaRPr/>
          </a:p>
          <a:p>
            <a:pPr indent="-285750" lvl="0" marL="285750" rtl="0" algn="l">
              <a:lnSpc>
                <a:spcPct val="130000"/>
              </a:lnSpc>
              <a:spcBef>
                <a:spcPts val="525"/>
              </a:spcBef>
              <a:spcAft>
                <a:spcPts val="0"/>
              </a:spcAft>
              <a:buSzPts val="1500"/>
              <a:buChar char="•"/>
            </a:pPr>
            <a:r>
              <a:rPr lang="en-CA"/>
              <a:t>Partially taken care of in hyperparameter tuning with max depth/max features</a:t>
            </a:r>
            <a:endParaRPr/>
          </a:p>
        </p:txBody>
      </p:sp>
      <p:sp>
        <p:nvSpPr>
          <p:cNvPr id="198" name="Google Shape;198;p29"/>
          <p:cNvSpPr txBox="1"/>
          <p:nvPr>
            <p:ph type="title"/>
          </p:nvPr>
        </p:nvSpPr>
        <p:spPr>
          <a:xfrm>
            <a:off x="438954" y="560541"/>
            <a:ext cx="7886700" cy="45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CA" sz="2800">
                <a:solidFill>
                  <a:srgbClr val="0077C8"/>
                </a:solidFill>
              </a:rPr>
              <a:t>Feature Selection</a:t>
            </a:r>
            <a:endParaRPr sz="28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0"/>
          <p:cNvSpPr txBox="1"/>
          <p:nvPr>
            <p:ph idx="1" type="body"/>
          </p:nvPr>
        </p:nvSpPr>
        <p:spPr>
          <a:xfrm>
            <a:off x="438954" y="1131888"/>
            <a:ext cx="4997100" cy="3697200"/>
          </a:xfrm>
          <a:prstGeom prst="rect">
            <a:avLst/>
          </a:prstGeom>
          <a:noFill/>
          <a:ln>
            <a:noFill/>
          </a:ln>
        </p:spPr>
        <p:txBody>
          <a:bodyPr anchorCtr="0" anchor="t" bIns="0" lIns="0" spcFirstLastPara="1" rIns="0" wrap="square" tIns="0">
            <a:noAutofit/>
          </a:bodyPr>
          <a:lstStyle/>
          <a:p>
            <a:pPr indent="-285750" lvl="0" marL="285750" rtl="0" algn="l">
              <a:lnSpc>
                <a:spcPct val="130000"/>
              </a:lnSpc>
              <a:spcBef>
                <a:spcPts val="525"/>
              </a:spcBef>
              <a:spcAft>
                <a:spcPts val="0"/>
              </a:spcAft>
              <a:buClr>
                <a:schemeClr val="dk1"/>
              </a:buClr>
              <a:buSzPts val="1500"/>
              <a:buFont typeface="Arial"/>
              <a:buChar char="•"/>
            </a:pPr>
            <a:r>
              <a:rPr lang="en-CA"/>
              <a:t>RandomSearchCV</a:t>
            </a:r>
            <a:endParaRPr/>
          </a:p>
          <a:p>
            <a:pPr indent="-179999" lvl="2" marL="540000" rtl="0" algn="l">
              <a:lnSpc>
                <a:spcPct val="130000"/>
              </a:lnSpc>
              <a:spcBef>
                <a:spcPts val="525"/>
              </a:spcBef>
              <a:spcAft>
                <a:spcPts val="0"/>
              </a:spcAft>
              <a:buSzPts val="1500"/>
              <a:buChar char="•"/>
            </a:pPr>
            <a:r>
              <a:rPr lang="en-CA"/>
              <a:t>Randomly searches in a range of values, quick to compute</a:t>
            </a:r>
            <a:endParaRPr/>
          </a:p>
          <a:p>
            <a:pPr indent="-285750" lvl="0" marL="285750" rtl="0" algn="l">
              <a:lnSpc>
                <a:spcPct val="130000"/>
              </a:lnSpc>
              <a:spcBef>
                <a:spcPts val="525"/>
              </a:spcBef>
              <a:spcAft>
                <a:spcPts val="0"/>
              </a:spcAft>
              <a:buSzPts val="1500"/>
              <a:buChar char="•"/>
            </a:pPr>
            <a:r>
              <a:rPr lang="en-CA"/>
              <a:t>GridSearchCV</a:t>
            </a:r>
            <a:endParaRPr/>
          </a:p>
          <a:p>
            <a:pPr indent="-179999" lvl="2" marL="540000" rtl="0" algn="l">
              <a:lnSpc>
                <a:spcPct val="130000"/>
              </a:lnSpc>
              <a:spcBef>
                <a:spcPts val="525"/>
              </a:spcBef>
              <a:spcAft>
                <a:spcPts val="0"/>
              </a:spcAft>
              <a:buSzPts val="1500"/>
              <a:buChar char="•"/>
            </a:pPr>
            <a:r>
              <a:rPr lang="en-CA"/>
              <a:t>Searches through all possibilities in a given parameter grid, computationally expensive</a:t>
            </a:r>
            <a:endParaRPr/>
          </a:p>
        </p:txBody>
      </p:sp>
      <p:sp>
        <p:nvSpPr>
          <p:cNvPr id="204" name="Google Shape;204;p30"/>
          <p:cNvSpPr txBox="1"/>
          <p:nvPr>
            <p:ph type="title"/>
          </p:nvPr>
        </p:nvSpPr>
        <p:spPr>
          <a:xfrm>
            <a:off x="438954" y="560541"/>
            <a:ext cx="7886700" cy="45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CA" sz="2800">
                <a:solidFill>
                  <a:srgbClr val="0077C8"/>
                </a:solidFill>
              </a:rPr>
              <a:t>CV Methods</a:t>
            </a:r>
            <a:endParaRPr sz="28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1"/>
          <p:cNvSpPr txBox="1"/>
          <p:nvPr>
            <p:ph type="title"/>
          </p:nvPr>
        </p:nvSpPr>
        <p:spPr>
          <a:xfrm>
            <a:off x="438954" y="560541"/>
            <a:ext cx="7886700" cy="45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CA" sz="2800">
                <a:solidFill>
                  <a:srgbClr val="0077C8"/>
                </a:solidFill>
              </a:rPr>
              <a:t>Best Parameters From RandomSearchCV</a:t>
            </a:r>
            <a:endParaRPr sz="2800"/>
          </a:p>
        </p:txBody>
      </p:sp>
      <p:pic>
        <p:nvPicPr>
          <p:cNvPr id="210" name="Google Shape;210;p31" title="Screenshot 2026-01-28 101931.png"/>
          <p:cNvPicPr preferRelativeResize="0"/>
          <p:nvPr/>
        </p:nvPicPr>
        <p:blipFill>
          <a:blip r:embed="rId3">
            <a:alphaModFix/>
          </a:blip>
          <a:stretch>
            <a:fillRect/>
          </a:stretch>
        </p:blipFill>
        <p:spPr>
          <a:xfrm>
            <a:off x="152400" y="2449941"/>
            <a:ext cx="8839200" cy="2436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2"/>
          <p:cNvSpPr txBox="1"/>
          <p:nvPr>
            <p:ph idx="1" type="body"/>
          </p:nvPr>
        </p:nvSpPr>
        <p:spPr>
          <a:xfrm>
            <a:off x="438948" y="1131900"/>
            <a:ext cx="7790700" cy="36972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525"/>
              </a:spcBef>
              <a:spcAft>
                <a:spcPts val="0"/>
              </a:spcAft>
              <a:buNone/>
            </a:pPr>
            <a:r>
              <a:rPr lang="en-CA"/>
              <a:t>Basic Model							CV Model</a:t>
            </a:r>
            <a:endParaRPr/>
          </a:p>
        </p:txBody>
      </p:sp>
      <p:sp>
        <p:nvSpPr>
          <p:cNvPr id="216" name="Google Shape;216;p32"/>
          <p:cNvSpPr txBox="1"/>
          <p:nvPr>
            <p:ph type="title"/>
          </p:nvPr>
        </p:nvSpPr>
        <p:spPr>
          <a:xfrm>
            <a:off x="438954" y="560541"/>
            <a:ext cx="7886700" cy="45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CA" sz="2800">
                <a:solidFill>
                  <a:srgbClr val="0077C8"/>
                </a:solidFill>
              </a:rPr>
              <a:t>Accuracy Comparison</a:t>
            </a:r>
            <a:endParaRPr sz="2800"/>
          </a:p>
        </p:txBody>
      </p:sp>
      <p:pic>
        <p:nvPicPr>
          <p:cNvPr id="217" name="Google Shape;217;p32" title="Screenshot 2026-01-28 101917.png"/>
          <p:cNvPicPr preferRelativeResize="0"/>
          <p:nvPr/>
        </p:nvPicPr>
        <p:blipFill>
          <a:blip r:embed="rId3">
            <a:alphaModFix/>
          </a:blip>
          <a:stretch>
            <a:fillRect/>
          </a:stretch>
        </p:blipFill>
        <p:spPr>
          <a:xfrm>
            <a:off x="438950" y="1498775"/>
            <a:ext cx="3725424" cy="3330325"/>
          </a:xfrm>
          <a:prstGeom prst="rect">
            <a:avLst/>
          </a:prstGeom>
          <a:noFill/>
          <a:ln>
            <a:noFill/>
          </a:ln>
        </p:spPr>
      </p:pic>
      <p:pic>
        <p:nvPicPr>
          <p:cNvPr id="218" name="Google Shape;218;p32" title="Screenshot 2026-01-28 101939.png"/>
          <p:cNvPicPr preferRelativeResize="0"/>
          <p:nvPr/>
        </p:nvPicPr>
        <p:blipFill>
          <a:blip r:embed="rId4">
            <a:alphaModFix/>
          </a:blip>
          <a:stretch>
            <a:fillRect/>
          </a:stretch>
        </p:blipFill>
        <p:spPr>
          <a:xfrm>
            <a:off x="4572000" y="1543050"/>
            <a:ext cx="3880700" cy="32860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3"/>
          <p:cNvSpPr txBox="1"/>
          <p:nvPr>
            <p:ph type="title"/>
          </p:nvPr>
        </p:nvSpPr>
        <p:spPr>
          <a:xfrm>
            <a:off x="438954" y="560541"/>
            <a:ext cx="7886700" cy="45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CA" sz="2800">
                <a:solidFill>
                  <a:srgbClr val="0077C8"/>
                </a:solidFill>
              </a:rPr>
              <a:t>Best Parameters From GridSearchCV</a:t>
            </a:r>
            <a:endParaRPr sz="2800"/>
          </a:p>
        </p:txBody>
      </p:sp>
      <p:pic>
        <p:nvPicPr>
          <p:cNvPr id="224" name="Google Shape;224;p33"/>
          <p:cNvPicPr preferRelativeResize="0"/>
          <p:nvPr/>
        </p:nvPicPr>
        <p:blipFill>
          <a:blip r:embed="rId3">
            <a:alphaModFix/>
          </a:blip>
          <a:stretch>
            <a:fillRect/>
          </a:stretch>
        </p:blipFill>
        <p:spPr>
          <a:xfrm>
            <a:off x="152400" y="1978766"/>
            <a:ext cx="8839201" cy="370467"/>
          </a:xfrm>
          <a:prstGeom prst="rect">
            <a:avLst/>
          </a:prstGeom>
          <a:noFill/>
          <a:ln>
            <a:noFill/>
          </a:ln>
        </p:spPr>
      </p:pic>
      <p:pic>
        <p:nvPicPr>
          <p:cNvPr id="225" name="Google Shape;225;p33"/>
          <p:cNvPicPr preferRelativeResize="0"/>
          <p:nvPr/>
        </p:nvPicPr>
        <p:blipFill>
          <a:blip r:embed="rId4">
            <a:alphaModFix/>
          </a:blip>
          <a:stretch>
            <a:fillRect/>
          </a:stretch>
        </p:blipFill>
        <p:spPr>
          <a:xfrm>
            <a:off x="1975838" y="2528458"/>
            <a:ext cx="5192318" cy="2489467"/>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4"/>
          <p:cNvSpPr txBox="1"/>
          <p:nvPr>
            <p:ph idx="1" type="body"/>
          </p:nvPr>
        </p:nvSpPr>
        <p:spPr>
          <a:xfrm>
            <a:off x="438954" y="1131888"/>
            <a:ext cx="4997100" cy="3697200"/>
          </a:xfrm>
          <a:prstGeom prst="rect">
            <a:avLst/>
          </a:prstGeom>
          <a:noFill/>
          <a:ln>
            <a:noFill/>
          </a:ln>
        </p:spPr>
        <p:txBody>
          <a:bodyPr anchorCtr="0" anchor="t" bIns="0" lIns="0" spcFirstLastPara="1" rIns="0" wrap="square" tIns="0">
            <a:noAutofit/>
          </a:bodyPr>
          <a:lstStyle/>
          <a:p>
            <a:pPr indent="-285750" lvl="0" marL="285750" rtl="0" algn="l">
              <a:lnSpc>
                <a:spcPct val="130000"/>
              </a:lnSpc>
              <a:spcBef>
                <a:spcPts val="525"/>
              </a:spcBef>
              <a:spcAft>
                <a:spcPts val="0"/>
              </a:spcAft>
              <a:buClr>
                <a:schemeClr val="dk1"/>
              </a:buClr>
              <a:buSzPts val="1500"/>
              <a:buFont typeface="Arial"/>
              <a:buChar char="•"/>
            </a:pPr>
            <a:r>
              <a:rPr lang="en-CA"/>
              <a:t>GridSearchCV only searches along predefined grid so if the optimal is between grid points it might miss it while RandomSearchCV is more likely to find it in that case</a:t>
            </a:r>
            <a:endParaRPr/>
          </a:p>
        </p:txBody>
      </p:sp>
      <p:sp>
        <p:nvSpPr>
          <p:cNvPr id="231" name="Google Shape;231;p34"/>
          <p:cNvSpPr txBox="1"/>
          <p:nvPr>
            <p:ph type="title"/>
          </p:nvPr>
        </p:nvSpPr>
        <p:spPr>
          <a:xfrm>
            <a:off x="438954" y="560541"/>
            <a:ext cx="7886700" cy="45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CA" sz="2800">
                <a:solidFill>
                  <a:srgbClr val="0077C8"/>
                </a:solidFill>
              </a:rPr>
              <a:t>Why RandomSearch Might Have Done Better</a:t>
            </a:r>
            <a:endParaRPr sz="28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35"/>
          <p:cNvSpPr txBox="1"/>
          <p:nvPr>
            <p:ph type="title"/>
          </p:nvPr>
        </p:nvSpPr>
        <p:spPr>
          <a:xfrm>
            <a:off x="438954" y="560541"/>
            <a:ext cx="7886700" cy="45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CA" sz="2800">
                <a:solidFill>
                  <a:srgbClr val="0077C8"/>
                </a:solidFill>
              </a:rPr>
              <a:t>Final Importance Graph</a:t>
            </a:r>
            <a:endParaRPr sz="2800"/>
          </a:p>
        </p:txBody>
      </p:sp>
      <p:pic>
        <p:nvPicPr>
          <p:cNvPr id="237" name="Google Shape;237;p35" title="Screenshot 2026-01-28 100904.png"/>
          <p:cNvPicPr preferRelativeResize="0"/>
          <p:nvPr/>
        </p:nvPicPr>
        <p:blipFill>
          <a:blip r:embed="rId3">
            <a:alphaModFix/>
          </a:blip>
          <a:stretch>
            <a:fillRect/>
          </a:stretch>
        </p:blipFill>
        <p:spPr>
          <a:xfrm>
            <a:off x="1356000" y="1115166"/>
            <a:ext cx="6052606" cy="382636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6"/>
          <p:cNvSpPr txBox="1"/>
          <p:nvPr>
            <p:ph idx="1" type="body"/>
          </p:nvPr>
        </p:nvSpPr>
        <p:spPr>
          <a:xfrm>
            <a:off x="438948" y="1131900"/>
            <a:ext cx="7617000" cy="3697200"/>
          </a:xfrm>
          <a:prstGeom prst="rect">
            <a:avLst/>
          </a:prstGeom>
          <a:noFill/>
          <a:ln>
            <a:noFill/>
          </a:ln>
        </p:spPr>
        <p:txBody>
          <a:bodyPr anchorCtr="0" anchor="t" bIns="0" lIns="0" spcFirstLastPara="1" rIns="0" wrap="square" tIns="0">
            <a:noAutofit/>
          </a:bodyPr>
          <a:lstStyle/>
          <a:p>
            <a:pPr indent="-285750" lvl="0" marL="285750" rtl="0" algn="l">
              <a:lnSpc>
                <a:spcPct val="130000"/>
              </a:lnSpc>
              <a:spcBef>
                <a:spcPts val="525"/>
              </a:spcBef>
              <a:spcAft>
                <a:spcPts val="0"/>
              </a:spcAft>
              <a:buClr>
                <a:schemeClr val="dk1"/>
              </a:buClr>
              <a:buSzPts val="1500"/>
              <a:buFont typeface="Arial"/>
              <a:buChar char="•"/>
            </a:pPr>
            <a:r>
              <a:rPr lang="en-CA"/>
              <a:t>Being female is the most important predictor as expected</a:t>
            </a:r>
            <a:endParaRPr/>
          </a:p>
          <a:p>
            <a:pPr indent="-285750" lvl="0" marL="285750" rtl="0" algn="l">
              <a:lnSpc>
                <a:spcPct val="130000"/>
              </a:lnSpc>
              <a:spcBef>
                <a:spcPts val="525"/>
              </a:spcBef>
              <a:spcAft>
                <a:spcPts val="0"/>
              </a:spcAft>
              <a:buSzPts val="1500"/>
              <a:buChar char="•"/>
            </a:pPr>
            <a:r>
              <a:rPr lang="en-CA"/>
              <a:t>Second most important predictor is if the cabin data is missing, maybe an indication of stowaways? Also historically the people who go on later tended to have a higher chance of missing data so could also be related to wealth indicator</a:t>
            </a:r>
            <a:endParaRPr/>
          </a:p>
          <a:p>
            <a:pPr indent="-285750" lvl="0" marL="285750" rtl="0" algn="l">
              <a:lnSpc>
                <a:spcPct val="130000"/>
              </a:lnSpc>
              <a:spcBef>
                <a:spcPts val="525"/>
              </a:spcBef>
              <a:spcAft>
                <a:spcPts val="0"/>
              </a:spcAft>
              <a:buSzPts val="1500"/>
              <a:buChar char="•"/>
            </a:pPr>
            <a:r>
              <a:rPr lang="en-CA"/>
              <a:t>Third most important predictor is P3 class, an indication of wealth, probably negative relation again as rich people survived more</a:t>
            </a:r>
            <a:endParaRPr/>
          </a:p>
          <a:p>
            <a:pPr indent="-285750" lvl="0" marL="285750" rtl="0" algn="l">
              <a:lnSpc>
                <a:spcPct val="130000"/>
              </a:lnSpc>
              <a:spcBef>
                <a:spcPts val="525"/>
              </a:spcBef>
              <a:spcAft>
                <a:spcPts val="0"/>
              </a:spcAft>
              <a:buSzPts val="1500"/>
              <a:buChar char="•"/>
            </a:pPr>
            <a:r>
              <a:rPr lang="en-CA"/>
              <a:t>Fourth is ticket group size, another indication of wealth</a:t>
            </a:r>
            <a:endParaRPr/>
          </a:p>
        </p:txBody>
      </p:sp>
      <p:sp>
        <p:nvSpPr>
          <p:cNvPr id="243" name="Google Shape;243;p36"/>
          <p:cNvSpPr txBox="1"/>
          <p:nvPr>
            <p:ph type="title"/>
          </p:nvPr>
        </p:nvSpPr>
        <p:spPr>
          <a:xfrm>
            <a:off x="438954" y="560541"/>
            <a:ext cx="7886700" cy="45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CA" sz="2800">
                <a:solidFill>
                  <a:srgbClr val="0077C8"/>
                </a:solidFill>
              </a:rPr>
              <a:t>Interesting Thoughts about Importance</a:t>
            </a:r>
            <a:endParaRPr sz="28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7"/>
          <p:cNvSpPr txBox="1"/>
          <p:nvPr>
            <p:ph type="title"/>
          </p:nvPr>
        </p:nvSpPr>
        <p:spPr>
          <a:xfrm>
            <a:off x="438954" y="560541"/>
            <a:ext cx="7886700" cy="45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CA" sz="2800">
                <a:solidFill>
                  <a:srgbClr val="0077C8"/>
                </a:solidFill>
              </a:rPr>
              <a:t>Final Confusion Matrix</a:t>
            </a:r>
            <a:endParaRPr sz="2800"/>
          </a:p>
        </p:txBody>
      </p:sp>
      <p:pic>
        <p:nvPicPr>
          <p:cNvPr id="249" name="Google Shape;249;p37" title="Screenshot 2026-01-28 100851.png"/>
          <p:cNvPicPr preferRelativeResize="0"/>
          <p:nvPr/>
        </p:nvPicPr>
        <p:blipFill>
          <a:blip r:embed="rId3">
            <a:alphaModFix/>
          </a:blip>
          <a:stretch>
            <a:fillRect/>
          </a:stretch>
        </p:blipFill>
        <p:spPr>
          <a:xfrm>
            <a:off x="5354050" y="1274597"/>
            <a:ext cx="3068775" cy="2594299"/>
          </a:xfrm>
          <a:prstGeom prst="rect">
            <a:avLst/>
          </a:prstGeom>
          <a:noFill/>
          <a:ln>
            <a:noFill/>
          </a:ln>
        </p:spPr>
      </p:pic>
      <p:sp>
        <p:nvSpPr>
          <p:cNvPr id="250" name="Google Shape;250;p37"/>
          <p:cNvSpPr txBox="1"/>
          <p:nvPr>
            <p:ph idx="1" type="body"/>
          </p:nvPr>
        </p:nvSpPr>
        <p:spPr>
          <a:xfrm>
            <a:off x="438954" y="1131888"/>
            <a:ext cx="4997100" cy="3697200"/>
          </a:xfrm>
          <a:prstGeom prst="rect">
            <a:avLst/>
          </a:prstGeom>
          <a:noFill/>
          <a:ln>
            <a:noFill/>
          </a:ln>
        </p:spPr>
        <p:txBody>
          <a:bodyPr anchorCtr="0" anchor="t" bIns="0" lIns="0" spcFirstLastPara="1" rIns="0" wrap="square" tIns="0">
            <a:noAutofit/>
          </a:bodyPr>
          <a:lstStyle/>
          <a:p>
            <a:pPr indent="-285750" lvl="0" marL="285750" rtl="0" algn="l">
              <a:lnSpc>
                <a:spcPct val="130000"/>
              </a:lnSpc>
              <a:spcBef>
                <a:spcPts val="525"/>
              </a:spcBef>
              <a:spcAft>
                <a:spcPts val="0"/>
              </a:spcAft>
              <a:buClr>
                <a:schemeClr val="dk1"/>
              </a:buClr>
              <a:buSzPts val="1500"/>
              <a:buFont typeface="Arial"/>
              <a:buChar char="•"/>
            </a:pPr>
            <a:r>
              <a:rPr lang="en-CA"/>
              <a:t>Nothing too alarming in the confusion matrix</a:t>
            </a:r>
            <a:endParaRPr/>
          </a:p>
          <a:p>
            <a:pPr indent="-285750" lvl="0" marL="285750" rtl="0" algn="l">
              <a:lnSpc>
                <a:spcPct val="130000"/>
              </a:lnSpc>
              <a:spcBef>
                <a:spcPts val="525"/>
              </a:spcBef>
              <a:spcAft>
                <a:spcPts val="0"/>
              </a:spcAft>
              <a:buSzPts val="1500"/>
              <a:buChar char="•"/>
            </a:pPr>
            <a:r>
              <a:rPr lang="en-CA"/>
              <a:t>Slightly more false negatives (predicted dead when survived) than false positives (predicted survived when dead)</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8"/>
          <p:cNvSpPr txBox="1"/>
          <p:nvPr>
            <p:ph type="title"/>
          </p:nvPr>
        </p:nvSpPr>
        <p:spPr>
          <a:xfrm>
            <a:off x="438954" y="560541"/>
            <a:ext cx="7886700" cy="45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CA" sz="2800">
                <a:solidFill>
                  <a:srgbClr val="0077C8"/>
                </a:solidFill>
              </a:rPr>
              <a:t>Final Model 1st Tree</a:t>
            </a:r>
            <a:endParaRPr sz="2800"/>
          </a:p>
        </p:txBody>
      </p:sp>
      <p:pic>
        <p:nvPicPr>
          <p:cNvPr id="256" name="Google Shape;256;p38" title="Screenshot 2026-01-28 101021.png"/>
          <p:cNvPicPr preferRelativeResize="0"/>
          <p:nvPr/>
        </p:nvPicPr>
        <p:blipFill>
          <a:blip r:embed="rId3">
            <a:alphaModFix/>
          </a:blip>
          <a:stretch>
            <a:fillRect/>
          </a:stretch>
        </p:blipFill>
        <p:spPr>
          <a:xfrm>
            <a:off x="526113" y="1127566"/>
            <a:ext cx="7712382" cy="382636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39"/>
          <p:cNvSpPr txBox="1"/>
          <p:nvPr>
            <p:ph type="title"/>
          </p:nvPr>
        </p:nvSpPr>
        <p:spPr>
          <a:xfrm>
            <a:off x="438954" y="560541"/>
            <a:ext cx="7886700" cy="45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CA" sz="2800">
                <a:solidFill>
                  <a:srgbClr val="0077C8"/>
                </a:solidFill>
              </a:rPr>
              <a:t>Final Model 501st Tree</a:t>
            </a:r>
            <a:endParaRPr sz="2800"/>
          </a:p>
        </p:txBody>
      </p:sp>
      <p:pic>
        <p:nvPicPr>
          <p:cNvPr id="262" name="Google Shape;262;p39" title="Screenshot 2026-01-28 101236.png"/>
          <p:cNvPicPr preferRelativeResize="0"/>
          <p:nvPr/>
        </p:nvPicPr>
        <p:blipFill>
          <a:blip r:embed="rId3">
            <a:alphaModFix/>
          </a:blip>
          <a:stretch>
            <a:fillRect/>
          </a:stretch>
        </p:blipFill>
        <p:spPr>
          <a:xfrm>
            <a:off x="152400" y="1164741"/>
            <a:ext cx="8307334" cy="3826357"/>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40"/>
          <p:cNvSpPr txBox="1"/>
          <p:nvPr>
            <p:ph idx="1" type="body"/>
          </p:nvPr>
        </p:nvSpPr>
        <p:spPr>
          <a:xfrm>
            <a:off x="624153" y="1012350"/>
            <a:ext cx="2823600" cy="3697200"/>
          </a:xfrm>
          <a:prstGeom prst="rect">
            <a:avLst/>
          </a:prstGeom>
        </p:spPr>
        <p:txBody>
          <a:bodyPr anchorCtr="0" anchor="t" bIns="0" lIns="0" spcFirstLastPara="1" rIns="0" wrap="square" tIns="0">
            <a:noAutofit/>
          </a:bodyPr>
          <a:lstStyle/>
          <a:p>
            <a:pPr indent="0" lvl="0" marL="0" rtl="0" algn="l">
              <a:lnSpc>
                <a:spcPct val="115000"/>
              </a:lnSpc>
              <a:spcBef>
                <a:spcPts val="1800"/>
              </a:spcBef>
              <a:spcAft>
                <a:spcPts val="0"/>
              </a:spcAft>
              <a:buNone/>
            </a:pPr>
            <a:r>
              <a:rPr b="1" lang="en-CA">
                <a:solidFill>
                  <a:srgbClr val="000000"/>
                </a:solidFill>
              </a:rPr>
              <a:t>Why KNN?</a:t>
            </a:r>
            <a:endParaRPr b="1">
              <a:solidFill>
                <a:srgbClr val="000000"/>
              </a:solidFill>
            </a:endParaRPr>
          </a:p>
          <a:p>
            <a:pPr indent="0" lvl="0" marL="0" rtl="0" algn="l">
              <a:lnSpc>
                <a:spcPct val="115000"/>
              </a:lnSpc>
              <a:spcBef>
                <a:spcPts val="1800"/>
              </a:spcBef>
              <a:spcAft>
                <a:spcPts val="0"/>
              </a:spcAft>
              <a:buNone/>
            </a:pPr>
            <a:r>
              <a:rPr b="1" lang="en-CA">
                <a:solidFill>
                  <a:srgbClr val="000000"/>
                </a:solidFill>
              </a:rPr>
              <a:t>Non-Parametric:</a:t>
            </a:r>
            <a:r>
              <a:rPr lang="en-CA">
                <a:solidFill>
                  <a:srgbClr val="000000"/>
                </a:solidFill>
              </a:rPr>
              <a:t> Captures complex, non-linear patterns without assuming a data distribution.</a:t>
            </a:r>
            <a:endParaRPr>
              <a:solidFill>
                <a:srgbClr val="000000"/>
              </a:solidFill>
            </a:endParaRPr>
          </a:p>
          <a:p>
            <a:pPr indent="0" lvl="0" marL="0" rtl="0" algn="l">
              <a:lnSpc>
                <a:spcPct val="115000"/>
              </a:lnSpc>
              <a:spcBef>
                <a:spcPts val="1800"/>
              </a:spcBef>
              <a:spcAft>
                <a:spcPts val="0"/>
              </a:spcAft>
              <a:buNone/>
            </a:pPr>
            <a:r>
              <a:rPr b="1" lang="en-CA">
                <a:solidFill>
                  <a:srgbClr val="000000"/>
                </a:solidFill>
              </a:rPr>
              <a:t>Logic:</a:t>
            </a:r>
            <a:r>
              <a:rPr lang="en-CA">
                <a:solidFill>
                  <a:srgbClr val="000000"/>
                </a:solidFill>
              </a:rPr>
              <a:t> Classifies passengers based on similarity ("Tell me who your neighbors are...").</a:t>
            </a:r>
            <a:endParaRPr>
              <a:solidFill>
                <a:srgbClr val="000000"/>
              </a:solidFill>
            </a:endParaRPr>
          </a:p>
          <a:p>
            <a:pPr indent="0" lvl="0" marL="0" rtl="0" algn="l">
              <a:spcBef>
                <a:spcPts val="1800"/>
              </a:spcBef>
              <a:spcAft>
                <a:spcPts val="0"/>
              </a:spcAft>
              <a:buNone/>
            </a:pPr>
            <a:r>
              <a:t/>
            </a:r>
            <a:endParaRPr/>
          </a:p>
        </p:txBody>
      </p:sp>
      <p:sp>
        <p:nvSpPr>
          <p:cNvPr id="269" name="Google Shape;269;p40"/>
          <p:cNvSpPr txBox="1"/>
          <p:nvPr>
            <p:ph type="title"/>
          </p:nvPr>
        </p:nvSpPr>
        <p:spPr>
          <a:xfrm>
            <a:off x="438954" y="560541"/>
            <a:ext cx="7886700" cy="451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CA"/>
              <a:t>K-Nearest Neighbors (KNN) Approach</a:t>
            </a:r>
            <a:endParaRPr/>
          </a:p>
        </p:txBody>
      </p:sp>
      <p:sp>
        <p:nvSpPr>
          <p:cNvPr id="270" name="Google Shape;270;p40"/>
          <p:cNvSpPr txBox="1"/>
          <p:nvPr>
            <p:ph idx="1" type="body"/>
          </p:nvPr>
        </p:nvSpPr>
        <p:spPr>
          <a:xfrm>
            <a:off x="4871903" y="1012350"/>
            <a:ext cx="2823600" cy="3697200"/>
          </a:xfrm>
          <a:prstGeom prst="rect">
            <a:avLst/>
          </a:prstGeom>
        </p:spPr>
        <p:txBody>
          <a:bodyPr anchorCtr="0" anchor="t" bIns="0" lIns="0" spcFirstLastPara="1" rIns="0" wrap="square" tIns="0">
            <a:noAutofit/>
          </a:bodyPr>
          <a:lstStyle/>
          <a:p>
            <a:pPr indent="0" lvl="0" marL="0" rtl="0" algn="l">
              <a:lnSpc>
                <a:spcPct val="115000"/>
              </a:lnSpc>
              <a:spcBef>
                <a:spcPts val="1800"/>
              </a:spcBef>
              <a:spcAft>
                <a:spcPts val="0"/>
              </a:spcAft>
              <a:buNone/>
            </a:pPr>
            <a:r>
              <a:rPr b="1" lang="en-CA">
                <a:solidFill>
                  <a:srgbClr val="000000"/>
                </a:solidFill>
              </a:rPr>
              <a:t>Feature Selection:</a:t>
            </a:r>
            <a:endParaRPr b="1">
              <a:solidFill>
                <a:srgbClr val="000000"/>
              </a:solidFill>
            </a:endParaRPr>
          </a:p>
          <a:p>
            <a:pPr indent="0" lvl="0" marL="0" rtl="0" algn="l">
              <a:lnSpc>
                <a:spcPct val="115000"/>
              </a:lnSpc>
              <a:spcBef>
                <a:spcPts val="1800"/>
              </a:spcBef>
              <a:spcAft>
                <a:spcPts val="0"/>
              </a:spcAft>
              <a:buNone/>
            </a:pPr>
            <a:r>
              <a:rPr b="1" lang="en-CA">
                <a:solidFill>
                  <a:srgbClr val="000000"/>
                </a:solidFill>
              </a:rPr>
              <a:t>Top Predictors:</a:t>
            </a:r>
            <a:r>
              <a:rPr lang="en-CA">
                <a:solidFill>
                  <a:srgbClr val="000000"/>
                </a:solidFill>
              </a:rPr>
              <a:t> </a:t>
            </a:r>
            <a:r>
              <a:rPr lang="en-CA">
                <a:solidFill>
                  <a:srgbClr val="188038"/>
                </a:solidFill>
                <a:latin typeface="Roboto Mono"/>
                <a:ea typeface="Roboto Mono"/>
                <a:cs typeface="Roboto Mono"/>
                <a:sym typeface="Roboto Mono"/>
              </a:rPr>
              <a:t>Sex</a:t>
            </a:r>
            <a:r>
              <a:rPr lang="en-CA">
                <a:solidFill>
                  <a:srgbClr val="000000"/>
                </a:solidFill>
              </a:rPr>
              <a:t>, </a:t>
            </a:r>
            <a:r>
              <a:rPr lang="en-CA">
                <a:solidFill>
                  <a:srgbClr val="188038"/>
                </a:solidFill>
                <a:latin typeface="Roboto Mono"/>
                <a:ea typeface="Roboto Mono"/>
                <a:cs typeface="Roboto Mono"/>
                <a:sym typeface="Roboto Mono"/>
              </a:rPr>
              <a:t>Fare</a:t>
            </a:r>
            <a:r>
              <a:rPr lang="en-CA">
                <a:solidFill>
                  <a:srgbClr val="000000"/>
                </a:solidFill>
              </a:rPr>
              <a:t>, and </a:t>
            </a:r>
            <a:r>
              <a:rPr lang="en-CA">
                <a:solidFill>
                  <a:srgbClr val="188038"/>
                </a:solidFill>
                <a:latin typeface="Roboto Mono"/>
                <a:ea typeface="Roboto Mono"/>
                <a:cs typeface="Roboto Mono"/>
                <a:sym typeface="Roboto Mono"/>
              </a:rPr>
              <a:t>Pclass</a:t>
            </a:r>
            <a:r>
              <a:rPr lang="en-CA">
                <a:solidFill>
                  <a:srgbClr val="000000"/>
                </a:solidFill>
              </a:rPr>
              <a:t> showed the highest Information Gain.</a:t>
            </a:r>
            <a:endParaRPr>
              <a:solidFill>
                <a:srgbClr val="000000"/>
              </a:solidFill>
            </a:endParaRPr>
          </a:p>
          <a:p>
            <a:pPr indent="0" lvl="0" marL="0" rtl="0" algn="l">
              <a:lnSpc>
                <a:spcPct val="115000"/>
              </a:lnSpc>
              <a:spcBef>
                <a:spcPts val="1800"/>
              </a:spcBef>
              <a:spcAft>
                <a:spcPts val="0"/>
              </a:spcAft>
              <a:buNone/>
            </a:pPr>
            <a:r>
              <a:rPr b="1" lang="en-CA">
                <a:solidFill>
                  <a:srgbClr val="000000"/>
                </a:solidFill>
              </a:rPr>
              <a:t>Goal:</a:t>
            </a:r>
            <a:r>
              <a:rPr lang="en-CA">
                <a:solidFill>
                  <a:srgbClr val="000000"/>
                </a:solidFill>
              </a:rPr>
              <a:t> Focus on features that maximize separation between Survivors and Non-Survivors.</a:t>
            </a:r>
            <a:endParaRPr>
              <a:solidFill>
                <a:srgbClr val="000000"/>
              </a:solidFill>
            </a:endParaRPr>
          </a:p>
          <a:p>
            <a:pPr indent="0" lvl="0" marL="0" rtl="0" algn="l">
              <a:spcBef>
                <a:spcPts val="1800"/>
              </a:spcBef>
              <a:spcAft>
                <a:spcPts val="0"/>
              </a:spcAft>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pic>
        <p:nvPicPr>
          <p:cNvPr id="276" name="Google Shape;276;p41"/>
          <p:cNvPicPr preferRelativeResize="0"/>
          <p:nvPr/>
        </p:nvPicPr>
        <p:blipFill>
          <a:blip r:embed="rId3">
            <a:alphaModFix/>
          </a:blip>
          <a:stretch>
            <a:fillRect/>
          </a:stretch>
        </p:blipFill>
        <p:spPr>
          <a:xfrm>
            <a:off x="558575" y="287650"/>
            <a:ext cx="7919625" cy="45072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42"/>
          <p:cNvSpPr txBox="1"/>
          <p:nvPr>
            <p:ph idx="1" type="body"/>
          </p:nvPr>
        </p:nvSpPr>
        <p:spPr>
          <a:xfrm>
            <a:off x="438950" y="276146"/>
            <a:ext cx="7378200" cy="2533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CA" sz="1300">
                <a:solidFill>
                  <a:srgbClr val="000000"/>
                </a:solidFill>
              </a:rPr>
              <a:t>Feature Breakdown (12 Features):</a:t>
            </a:r>
            <a:endParaRPr b="1" sz="1300">
              <a:solidFill>
                <a:srgbClr val="000000"/>
              </a:solidFill>
            </a:endParaRPr>
          </a:p>
          <a:p>
            <a:pPr indent="-311150" lvl="0" marL="457200" rtl="0" algn="l">
              <a:lnSpc>
                <a:spcPct val="115000"/>
              </a:lnSpc>
              <a:spcBef>
                <a:spcPts val="1800"/>
              </a:spcBef>
              <a:spcAft>
                <a:spcPts val="0"/>
              </a:spcAft>
              <a:buClr>
                <a:srgbClr val="000000"/>
              </a:buClr>
              <a:buSzPts val="1300"/>
              <a:buChar char="●"/>
            </a:pPr>
            <a:r>
              <a:rPr b="1" lang="en-CA" sz="1300">
                <a:solidFill>
                  <a:srgbClr val="000000"/>
                </a:solidFill>
              </a:rPr>
              <a:t>Numerical (Log-Transformed):</a:t>
            </a:r>
            <a:r>
              <a:rPr lang="en-CA" sz="1300">
                <a:solidFill>
                  <a:srgbClr val="000000"/>
                </a:solidFill>
              </a:rPr>
              <a:t> </a:t>
            </a:r>
            <a:r>
              <a:rPr lang="en-CA" sz="1300">
                <a:solidFill>
                  <a:srgbClr val="188038"/>
                </a:solidFill>
                <a:latin typeface="Roboto Mono"/>
                <a:ea typeface="Roboto Mono"/>
                <a:cs typeface="Roboto Mono"/>
                <a:sym typeface="Roboto Mono"/>
              </a:rPr>
              <a:t>log_Fare</a:t>
            </a:r>
            <a:r>
              <a:rPr lang="en-CA" sz="1300">
                <a:solidFill>
                  <a:srgbClr val="000000"/>
                </a:solidFill>
              </a:rPr>
              <a:t>, </a:t>
            </a:r>
            <a:r>
              <a:rPr lang="en-CA" sz="1300">
                <a:solidFill>
                  <a:srgbClr val="188038"/>
                </a:solidFill>
                <a:latin typeface="Roboto Mono"/>
                <a:ea typeface="Roboto Mono"/>
                <a:cs typeface="Roboto Mono"/>
                <a:sym typeface="Roboto Mono"/>
              </a:rPr>
              <a:t>log_fare_per_person</a:t>
            </a:r>
            <a:r>
              <a:rPr lang="en-CA" sz="1300">
                <a:solidFill>
                  <a:srgbClr val="000000"/>
                </a:solidFill>
              </a:rPr>
              <a:t>, </a:t>
            </a:r>
            <a:r>
              <a:rPr lang="en-CA" sz="1300">
                <a:solidFill>
                  <a:srgbClr val="188038"/>
                </a:solidFill>
                <a:latin typeface="Roboto Mono"/>
                <a:ea typeface="Roboto Mono"/>
                <a:cs typeface="Roboto Mono"/>
                <a:sym typeface="Roboto Mono"/>
              </a:rPr>
              <a:t>log_age_fare_ratio</a:t>
            </a:r>
            <a:r>
              <a:rPr lang="en-CA" sz="1300">
                <a:solidFill>
                  <a:srgbClr val="000000"/>
                </a:solidFill>
              </a:rPr>
              <a:t> (Handles skewness).</a:t>
            </a:r>
            <a:endParaRPr sz="1300">
              <a:solidFill>
                <a:srgbClr val="000000"/>
              </a:solidFill>
            </a:endParaRPr>
          </a:p>
          <a:p>
            <a:pPr indent="-311150" lvl="0" marL="457200" rtl="0" algn="l">
              <a:lnSpc>
                <a:spcPct val="115000"/>
              </a:lnSpc>
              <a:spcBef>
                <a:spcPts val="0"/>
              </a:spcBef>
              <a:spcAft>
                <a:spcPts val="0"/>
              </a:spcAft>
              <a:buClr>
                <a:srgbClr val="000000"/>
              </a:buClr>
              <a:buSzPts val="1300"/>
              <a:buChar char="●"/>
            </a:pPr>
            <a:r>
              <a:rPr b="1" lang="en-CA" sz="1300">
                <a:solidFill>
                  <a:srgbClr val="000000"/>
                </a:solidFill>
              </a:rPr>
              <a:t>Demographic:</a:t>
            </a:r>
            <a:r>
              <a:rPr lang="en-CA" sz="1300">
                <a:solidFill>
                  <a:srgbClr val="000000"/>
                </a:solidFill>
              </a:rPr>
              <a:t> </a:t>
            </a:r>
            <a:r>
              <a:rPr lang="en-CA" sz="1300">
                <a:solidFill>
                  <a:srgbClr val="188038"/>
                </a:solidFill>
                <a:latin typeface="Roboto Mono"/>
                <a:ea typeface="Roboto Mono"/>
                <a:cs typeface="Roboto Mono"/>
                <a:sym typeface="Roboto Mono"/>
              </a:rPr>
              <a:t>Age</a:t>
            </a:r>
            <a:r>
              <a:rPr lang="en-CA" sz="1300">
                <a:solidFill>
                  <a:srgbClr val="000000"/>
                </a:solidFill>
              </a:rPr>
              <a:t>, </a:t>
            </a:r>
            <a:r>
              <a:rPr lang="en-CA" sz="1300">
                <a:solidFill>
                  <a:srgbClr val="188038"/>
                </a:solidFill>
                <a:latin typeface="Roboto Mono"/>
                <a:ea typeface="Roboto Mono"/>
                <a:cs typeface="Roboto Mono"/>
                <a:sym typeface="Roboto Mono"/>
              </a:rPr>
              <a:t>family_size</a:t>
            </a:r>
            <a:r>
              <a:rPr lang="en-CA" sz="1300">
                <a:solidFill>
                  <a:srgbClr val="000000"/>
                </a:solidFill>
              </a:rPr>
              <a:t>, </a:t>
            </a:r>
            <a:r>
              <a:rPr lang="en-CA" sz="1300">
                <a:solidFill>
                  <a:srgbClr val="188038"/>
                </a:solidFill>
                <a:latin typeface="Roboto Mono"/>
                <a:ea typeface="Roboto Mono"/>
                <a:cs typeface="Roboto Mono"/>
                <a:sym typeface="Roboto Mono"/>
              </a:rPr>
              <a:t>Pclass</a:t>
            </a:r>
            <a:r>
              <a:rPr lang="en-CA" sz="1300">
                <a:solidFill>
                  <a:srgbClr val="000000"/>
                </a:solidFill>
              </a:rPr>
              <a:t>.</a:t>
            </a:r>
            <a:endParaRPr sz="1300">
              <a:solidFill>
                <a:srgbClr val="000000"/>
              </a:solidFill>
            </a:endParaRPr>
          </a:p>
          <a:p>
            <a:pPr indent="-311150" lvl="0" marL="457200" rtl="0" algn="l">
              <a:lnSpc>
                <a:spcPct val="115000"/>
              </a:lnSpc>
              <a:spcBef>
                <a:spcPts val="0"/>
              </a:spcBef>
              <a:spcAft>
                <a:spcPts val="0"/>
              </a:spcAft>
              <a:buClr>
                <a:srgbClr val="000000"/>
              </a:buClr>
              <a:buSzPts val="1300"/>
              <a:buChar char="●"/>
            </a:pPr>
            <a:r>
              <a:rPr b="1" lang="en-CA" sz="1300">
                <a:solidFill>
                  <a:srgbClr val="000000"/>
                </a:solidFill>
              </a:rPr>
              <a:t>Binary/Categorical:</a:t>
            </a:r>
            <a:r>
              <a:rPr lang="en-CA" sz="1300">
                <a:solidFill>
                  <a:srgbClr val="000000"/>
                </a:solidFill>
              </a:rPr>
              <a:t> </a:t>
            </a:r>
            <a:r>
              <a:rPr lang="en-CA" sz="1300">
                <a:solidFill>
                  <a:srgbClr val="188038"/>
                </a:solidFill>
                <a:latin typeface="Roboto Mono"/>
                <a:ea typeface="Roboto Mono"/>
                <a:cs typeface="Roboto Mono"/>
                <a:sym typeface="Roboto Mono"/>
              </a:rPr>
              <a:t>is_master</a:t>
            </a:r>
            <a:r>
              <a:rPr lang="en-CA" sz="1300">
                <a:solidFill>
                  <a:srgbClr val="000000"/>
                </a:solidFill>
              </a:rPr>
              <a:t>, </a:t>
            </a:r>
            <a:r>
              <a:rPr lang="en-CA" sz="1300">
                <a:solidFill>
                  <a:srgbClr val="188038"/>
                </a:solidFill>
                <a:latin typeface="Roboto Mono"/>
                <a:ea typeface="Roboto Mono"/>
                <a:cs typeface="Roboto Mono"/>
                <a:sym typeface="Roboto Mono"/>
              </a:rPr>
              <a:t>is_child</a:t>
            </a:r>
            <a:r>
              <a:rPr lang="en-CA" sz="1300">
                <a:solidFill>
                  <a:srgbClr val="000000"/>
                </a:solidFill>
              </a:rPr>
              <a:t>, </a:t>
            </a:r>
            <a:r>
              <a:rPr lang="en-CA" sz="1300">
                <a:solidFill>
                  <a:srgbClr val="188038"/>
                </a:solidFill>
                <a:latin typeface="Roboto Mono"/>
                <a:ea typeface="Roboto Mono"/>
                <a:cs typeface="Roboto Mono"/>
                <a:sym typeface="Roboto Mono"/>
              </a:rPr>
              <a:t>is_alone</a:t>
            </a:r>
            <a:r>
              <a:rPr lang="en-CA" sz="1300">
                <a:solidFill>
                  <a:srgbClr val="000000"/>
                </a:solidFill>
              </a:rPr>
              <a:t>, </a:t>
            </a:r>
            <a:r>
              <a:rPr lang="en-CA" sz="1300">
                <a:solidFill>
                  <a:srgbClr val="188038"/>
                </a:solidFill>
                <a:latin typeface="Roboto Mono"/>
                <a:ea typeface="Roboto Mono"/>
                <a:cs typeface="Roboto Mono"/>
                <a:sym typeface="Roboto Mono"/>
              </a:rPr>
              <a:t>Sex</a:t>
            </a:r>
            <a:r>
              <a:rPr lang="en-CA" sz="1300">
                <a:solidFill>
                  <a:srgbClr val="000000"/>
                </a:solidFill>
              </a:rPr>
              <a:t>, </a:t>
            </a:r>
            <a:r>
              <a:rPr lang="en-CA" sz="1300">
                <a:solidFill>
                  <a:srgbClr val="188038"/>
                </a:solidFill>
                <a:latin typeface="Roboto Mono"/>
                <a:ea typeface="Roboto Mono"/>
                <a:cs typeface="Roboto Mono"/>
                <a:sym typeface="Roboto Mono"/>
              </a:rPr>
              <a:t>Embarked</a:t>
            </a:r>
            <a:r>
              <a:rPr lang="en-CA" sz="1300">
                <a:solidFill>
                  <a:srgbClr val="000000"/>
                </a:solidFill>
              </a:rPr>
              <a:t>, </a:t>
            </a:r>
            <a:r>
              <a:rPr lang="en-CA" sz="1300">
                <a:solidFill>
                  <a:srgbClr val="188038"/>
                </a:solidFill>
                <a:latin typeface="Roboto Mono"/>
                <a:ea typeface="Roboto Mono"/>
                <a:cs typeface="Roboto Mono"/>
                <a:sym typeface="Roboto Mono"/>
              </a:rPr>
              <a:t>title_group</a:t>
            </a:r>
            <a:r>
              <a:rPr lang="en-CA" sz="1300">
                <a:solidFill>
                  <a:srgbClr val="000000"/>
                </a:solidFill>
              </a:rPr>
              <a:t>.</a:t>
            </a:r>
            <a:endParaRPr sz="1300">
              <a:solidFill>
                <a:srgbClr val="000000"/>
              </a:solidFill>
            </a:endParaRPr>
          </a:p>
          <a:p>
            <a:pPr indent="0" lvl="0" marL="0" rtl="0" algn="l">
              <a:lnSpc>
                <a:spcPct val="115000"/>
              </a:lnSpc>
              <a:spcBef>
                <a:spcPts val="1800"/>
              </a:spcBef>
              <a:spcAft>
                <a:spcPts val="0"/>
              </a:spcAft>
              <a:buNone/>
            </a:pPr>
            <a:r>
              <a:rPr b="1" lang="en-CA" sz="1300">
                <a:solidFill>
                  <a:srgbClr val="000000"/>
                </a:solidFill>
              </a:rPr>
              <a:t>Preprocessing:</a:t>
            </a:r>
            <a:endParaRPr b="1" sz="1300">
              <a:solidFill>
                <a:srgbClr val="000000"/>
              </a:solidFill>
            </a:endParaRPr>
          </a:p>
          <a:p>
            <a:pPr indent="-311150" lvl="0" marL="457200" rtl="0" algn="l">
              <a:lnSpc>
                <a:spcPct val="115000"/>
              </a:lnSpc>
              <a:spcBef>
                <a:spcPts val="1800"/>
              </a:spcBef>
              <a:spcAft>
                <a:spcPts val="0"/>
              </a:spcAft>
              <a:buClr>
                <a:srgbClr val="000000"/>
              </a:buClr>
              <a:buSzPts val="1300"/>
              <a:buChar char="●"/>
            </a:pPr>
            <a:r>
              <a:rPr lang="en-CA" sz="1300">
                <a:solidFill>
                  <a:srgbClr val="000000"/>
                </a:solidFill>
              </a:rPr>
              <a:t>Applied </a:t>
            </a:r>
            <a:r>
              <a:rPr b="1" lang="en-CA" sz="1300">
                <a:solidFill>
                  <a:srgbClr val="000000"/>
                </a:solidFill>
              </a:rPr>
              <a:t>StandardScaler</a:t>
            </a:r>
            <a:r>
              <a:rPr lang="en-CA" sz="1300">
                <a:solidFill>
                  <a:srgbClr val="000000"/>
                </a:solidFill>
              </a:rPr>
              <a:t> to all numerical inputs to ensure fair distance calculations.</a:t>
            </a:r>
            <a:endParaRPr sz="1300">
              <a:solidFill>
                <a:srgbClr val="000000"/>
              </a:solidFill>
            </a:endParaRPr>
          </a:p>
          <a:p>
            <a:pPr indent="0" lvl="0" marL="0" rtl="0" algn="l">
              <a:spcBef>
                <a:spcPts val="1800"/>
              </a:spcBef>
              <a:spcAft>
                <a:spcPts val="0"/>
              </a:spcAft>
              <a:buNone/>
            </a:pPr>
            <a:r>
              <a:t/>
            </a:r>
            <a:endParaRPr sz="1400"/>
          </a:p>
        </p:txBody>
      </p:sp>
      <p:pic>
        <p:nvPicPr>
          <p:cNvPr id="283" name="Google Shape;283;p42"/>
          <p:cNvPicPr preferRelativeResize="0"/>
          <p:nvPr/>
        </p:nvPicPr>
        <p:blipFill>
          <a:blip r:embed="rId3">
            <a:alphaModFix/>
          </a:blip>
          <a:stretch>
            <a:fillRect/>
          </a:stretch>
        </p:blipFill>
        <p:spPr>
          <a:xfrm>
            <a:off x="2566500" y="2732451"/>
            <a:ext cx="4084575" cy="205975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43"/>
          <p:cNvSpPr txBox="1"/>
          <p:nvPr>
            <p:ph idx="1" type="body"/>
          </p:nvPr>
        </p:nvSpPr>
        <p:spPr>
          <a:xfrm>
            <a:off x="166050" y="1131900"/>
            <a:ext cx="3300900" cy="36972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CA" sz="1300">
                <a:solidFill>
                  <a:srgbClr val="000000"/>
                </a:solidFill>
              </a:rPr>
              <a:t>Optimization Strategy:</a:t>
            </a:r>
            <a:endParaRPr b="1" sz="1300">
              <a:solidFill>
                <a:srgbClr val="000000"/>
              </a:solidFill>
            </a:endParaRPr>
          </a:p>
          <a:p>
            <a:pPr indent="-311150" lvl="0" marL="457200" rtl="0" algn="l">
              <a:lnSpc>
                <a:spcPct val="115000"/>
              </a:lnSpc>
              <a:spcBef>
                <a:spcPts val="0"/>
              </a:spcBef>
              <a:spcAft>
                <a:spcPts val="0"/>
              </a:spcAft>
              <a:buClr>
                <a:srgbClr val="000000"/>
              </a:buClr>
              <a:buSzPts val="1300"/>
              <a:buChar char="●"/>
            </a:pPr>
            <a:r>
              <a:rPr lang="en-CA" sz="1300">
                <a:solidFill>
                  <a:srgbClr val="000000"/>
                </a:solidFill>
              </a:rPr>
              <a:t>Used </a:t>
            </a:r>
            <a:r>
              <a:rPr b="1" lang="en-CA" sz="1300">
                <a:solidFill>
                  <a:srgbClr val="000000"/>
                </a:solidFill>
              </a:rPr>
              <a:t>GridSearchCV</a:t>
            </a:r>
            <a:r>
              <a:rPr lang="en-CA" sz="1300">
                <a:solidFill>
                  <a:srgbClr val="000000"/>
                </a:solidFill>
              </a:rPr>
              <a:t> to tune K (neighbors) and distance metric on the processed feature set.</a:t>
            </a:r>
            <a:endParaRPr sz="1300">
              <a:solidFill>
                <a:srgbClr val="000000"/>
              </a:solidFill>
            </a:endParaRPr>
          </a:p>
          <a:p>
            <a:pPr indent="0" lvl="0" marL="0" rtl="0" algn="l">
              <a:lnSpc>
                <a:spcPct val="115000"/>
              </a:lnSpc>
              <a:spcBef>
                <a:spcPts val="1800"/>
              </a:spcBef>
              <a:spcAft>
                <a:spcPts val="0"/>
              </a:spcAft>
              <a:buNone/>
            </a:pPr>
            <a:r>
              <a:rPr b="1" lang="en-CA" sz="1300">
                <a:solidFill>
                  <a:srgbClr val="000000"/>
                </a:solidFill>
              </a:rPr>
              <a:t>The "Sweet Spot": K = 19</a:t>
            </a:r>
            <a:endParaRPr b="1" sz="1300">
              <a:solidFill>
                <a:srgbClr val="000000"/>
              </a:solidFill>
            </a:endParaRPr>
          </a:p>
          <a:p>
            <a:pPr indent="-311150" lvl="0" marL="457200" rtl="0" algn="l">
              <a:lnSpc>
                <a:spcPct val="115000"/>
              </a:lnSpc>
              <a:spcBef>
                <a:spcPts val="0"/>
              </a:spcBef>
              <a:spcAft>
                <a:spcPts val="0"/>
              </a:spcAft>
              <a:buClr>
                <a:srgbClr val="000000"/>
              </a:buClr>
              <a:buSzPts val="1300"/>
              <a:buChar char="●"/>
            </a:pPr>
            <a:r>
              <a:rPr b="1" lang="en-CA" sz="1300">
                <a:solidFill>
                  <a:srgbClr val="000000"/>
                </a:solidFill>
              </a:rPr>
              <a:t>Why 19?</a:t>
            </a:r>
            <a:r>
              <a:rPr lang="en-CA" sz="1300">
                <a:solidFill>
                  <a:srgbClr val="000000"/>
                </a:solidFill>
              </a:rPr>
              <a:t> Lower values (K&lt;5) overfitted to the noise of the engineered features. Higher values lost the signal.</a:t>
            </a:r>
            <a:endParaRPr sz="1300">
              <a:solidFill>
                <a:srgbClr val="000000"/>
              </a:solidFill>
            </a:endParaRPr>
          </a:p>
          <a:p>
            <a:pPr indent="-311150" lvl="0" marL="457200" rtl="0" algn="l">
              <a:lnSpc>
                <a:spcPct val="115000"/>
              </a:lnSpc>
              <a:spcBef>
                <a:spcPts val="0"/>
              </a:spcBef>
              <a:spcAft>
                <a:spcPts val="0"/>
              </a:spcAft>
              <a:buClr>
                <a:srgbClr val="000000"/>
              </a:buClr>
              <a:buSzPts val="1300"/>
              <a:buChar char="●"/>
            </a:pPr>
            <a:r>
              <a:rPr b="1" lang="en-CA" sz="1300">
                <a:solidFill>
                  <a:srgbClr val="000000"/>
                </a:solidFill>
              </a:rPr>
              <a:t>Distance Metric:</a:t>
            </a:r>
            <a:r>
              <a:rPr lang="en-CA" sz="1300">
                <a:solidFill>
                  <a:srgbClr val="000000"/>
                </a:solidFill>
              </a:rPr>
              <a:t> Euclidean</a:t>
            </a:r>
            <a:endParaRPr sz="1300">
              <a:solidFill>
                <a:srgbClr val="000000"/>
              </a:solidFill>
            </a:endParaRPr>
          </a:p>
          <a:p>
            <a:pPr indent="0" lvl="0" marL="0" rtl="0" algn="l">
              <a:spcBef>
                <a:spcPts val="1800"/>
              </a:spcBef>
              <a:spcAft>
                <a:spcPts val="0"/>
              </a:spcAft>
              <a:buNone/>
            </a:pPr>
            <a:r>
              <a:t/>
            </a:r>
            <a:endParaRPr sz="1700"/>
          </a:p>
        </p:txBody>
      </p:sp>
      <p:sp>
        <p:nvSpPr>
          <p:cNvPr id="290" name="Google Shape;290;p43"/>
          <p:cNvSpPr txBox="1"/>
          <p:nvPr>
            <p:ph type="title"/>
          </p:nvPr>
        </p:nvSpPr>
        <p:spPr>
          <a:xfrm>
            <a:off x="438954" y="560541"/>
            <a:ext cx="7886700" cy="451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CA"/>
              <a:t>Hyperparameter Tuning</a:t>
            </a:r>
            <a:endParaRPr/>
          </a:p>
        </p:txBody>
      </p:sp>
      <p:pic>
        <p:nvPicPr>
          <p:cNvPr id="291" name="Google Shape;291;p43"/>
          <p:cNvPicPr preferRelativeResize="0"/>
          <p:nvPr/>
        </p:nvPicPr>
        <p:blipFill>
          <a:blip r:embed="rId3">
            <a:alphaModFix/>
          </a:blip>
          <a:stretch>
            <a:fillRect/>
          </a:stretch>
        </p:blipFill>
        <p:spPr>
          <a:xfrm>
            <a:off x="3587426" y="707225"/>
            <a:ext cx="4738224" cy="2981617"/>
          </a:xfrm>
          <a:prstGeom prst="rect">
            <a:avLst/>
          </a:prstGeom>
          <a:noFill/>
          <a:ln>
            <a:noFill/>
          </a:ln>
        </p:spPr>
      </p:pic>
      <p:pic>
        <p:nvPicPr>
          <p:cNvPr id="292" name="Google Shape;292;p43"/>
          <p:cNvPicPr preferRelativeResize="0"/>
          <p:nvPr/>
        </p:nvPicPr>
        <p:blipFill>
          <a:blip r:embed="rId4">
            <a:alphaModFix/>
          </a:blip>
          <a:stretch>
            <a:fillRect/>
          </a:stretch>
        </p:blipFill>
        <p:spPr>
          <a:xfrm>
            <a:off x="33012" y="3870925"/>
            <a:ext cx="8698576" cy="8318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4"/>
          <p:cNvSpPr txBox="1"/>
          <p:nvPr>
            <p:ph type="title"/>
          </p:nvPr>
        </p:nvSpPr>
        <p:spPr>
          <a:xfrm>
            <a:off x="438954" y="560541"/>
            <a:ext cx="7886700" cy="451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CA"/>
              <a:t>Confusion matrix</a:t>
            </a:r>
            <a:endParaRPr/>
          </a:p>
        </p:txBody>
      </p:sp>
      <p:pic>
        <p:nvPicPr>
          <p:cNvPr id="299" name="Google Shape;299;p44"/>
          <p:cNvPicPr preferRelativeResize="0"/>
          <p:nvPr/>
        </p:nvPicPr>
        <p:blipFill>
          <a:blip r:embed="rId3">
            <a:alphaModFix/>
          </a:blip>
          <a:stretch>
            <a:fillRect/>
          </a:stretch>
        </p:blipFill>
        <p:spPr>
          <a:xfrm>
            <a:off x="152400" y="1164741"/>
            <a:ext cx="4448175" cy="3686175"/>
          </a:xfrm>
          <a:prstGeom prst="rect">
            <a:avLst/>
          </a:prstGeom>
          <a:noFill/>
          <a:ln>
            <a:noFill/>
          </a:ln>
        </p:spPr>
      </p:pic>
      <p:sp>
        <p:nvSpPr>
          <p:cNvPr id="300" name="Google Shape;300;p44"/>
          <p:cNvSpPr txBox="1"/>
          <p:nvPr/>
        </p:nvSpPr>
        <p:spPr>
          <a:xfrm>
            <a:off x="4804525" y="1484775"/>
            <a:ext cx="3521100" cy="1936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CA" sz="1300"/>
              <a:t>T</a:t>
            </a:r>
            <a:r>
              <a:rPr b="1" lang="en-CA" sz="1300"/>
              <a:t>est Accuracy:</a:t>
            </a:r>
            <a:r>
              <a:rPr lang="en-CA" sz="1300"/>
              <a:t> 80.72%</a:t>
            </a:r>
            <a:endParaRPr sz="1300"/>
          </a:p>
          <a:p>
            <a:pPr indent="0" lvl="0" marL="0" rtl="0" algn="l">
              <a:spcBef>
                <a:spcPts val="0"/>
              </a:spcBef>
              <a:spcAft>
                <a:spcPts val="0"/>
              </a:spcAft>
              <a:buNone/>
            </a:pPr>
            <a:r>
              <a:rPr b="1" lang="en-CA" sz="1300"/>
              <a:t>Key Insight:</a:t>
            </a:r>
            <a:r>
              <a:rPr lang="en-CA" sz="1300"/>
              <a:t> The model is </a:t>
            </a:r>
            <a:r>
              <a:rPr b="1" lang="en-CA" sz="1300"/>
              <a:t>Conservative</a:t>
            </a:r>
            <a:r>
              <a:rPr lang="en-CA" sz="1300"/>
              <a:t>.</a:t>
            </a:r>
            <a:endParaRPr sz="1300"/>
          </a:p>
          <a:p>
            <a:pPr indent="-311150" lvl="0" marL="457200" rtl="0" algn="l">
              <a:lnSpc>
                <a:spcPct val="115000"/>
              </a:lnSpc>
              <a:spcBef>
                <a:spcPts val="1800"/>
              </a:spcBef>
              <a:spcAft>
                <a:spcPts val="0"/>
              </a:spcAft>
              <a:buSzPts val="1300"/>
              <a:buChar char="●"/>
            </a:pPr>
            <a:r>
              <a:rPr b="1" lang="en-CA" sz="1300"/>
              <a:t>False Negatives (High):</a:t>
            </a:r>
            <a:r>
              <a:rPr lang="en-CA" sz="1300"/>
              <a:t> Occasionally misses a survivor.</a:t>
            </a:r>
            <a:endParaRPr sz="1300"/>
          </a:p>
          <a:p>
            <a:pPr indent="-311150" lvl="0" marL="457200" rtl="0" algn="l">
              <a:lnSpc>
                <a:spcPct val="115000"/>
              </a:lnSpc>
              <a:spcBef>
                <a:spcPts val="0"/>
              </a:spcBef>
              <a:spcAft>
                <a:spcPts val="0"/>
              </a:spcAft>
              <a:buSzPts val="1300"/>
              <a:buChar char="●"/>
            </a:pPr>
            <a:r>
              <a:rPr b="1" lang="en-CA" sz="1300"/>
              <a:t>False Positives (Low):</a:t>
            </a:r>
            <a:r>
              <a:rPr lang="en-CA" sz="1300"/>
              <a:t> Rarely gives "false hope" (predicting survival when they died).</a:t>
            </a:r>
            <a:endParaRPr sz="1300"/>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45"/>
          <p:cNvSpPr txBox="1"/>
          <p:nvPr>
            <p:ph idx="1" type="body"/>
          </p:nvPr>
        </p:nvSpPr>
        <p:spPr>
          <a:xfrm>
            <a:off x="116802" y="1117900"/>
            <a:ext cx="4063200" cy="36972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CA" sz="1100">
                <a:solidFill>
                  <a:srgbClr val="000000"/>
                </a:solidFill>
              </a:rPr>
              <a:t>ROC Curve Analysis:</a:t>
            </a:r>
            <a:endParaRPr b="1" sz="1100">
              <a:solidFill>
                <a:srgbClr val="000000"/>
              </a:solidFill>
            </a:endParaRPr>
          </a:p>
          <a:p>
            <a:pPr indent="-298450" lvl="0" marL="457200" rtl="0" algn="l">
              <a:lnSpc>
                <a:spcPct val="115000"/>
              </a:lnSpc>
              <a:spcBef>
                <a:spcPts val="0"/>
              </a:spcBef>
              <a:spcAft>
                <a:spcPts val="0"/>
              </a:spcAft>
              <a:buClr>
                <a:srgbClr val="000000"/>
              </a:buClr>
              <a:buSzPts val="1100"/>
              <a:buChar char="●"/>
            </a:pPr>
            <a:r>
              <a:rPr b="1" lang="en-CA" sz="1100">
                <a:solidFill>
                  <a:srgbClr val="000000"/>
                </a:solidFill>
              </a:rPr>
              <a:t>AUC Score:</a:t>
            </a:r>
            <a:r>
              <a:rPr lang="en-CA" sz="1100">
                <a:solidFill>
                  <a:srgbClr val="000000"/>
                </a:solidFill>
              </a:rPr>
              <a:t> </a:t>
            </a:r>
            <a:r>
              <a:rPr b="1" lang="en-CA" sz="1100">
                <a:solidFill>
                  <a:srgbClr val="000000"/>
                </a:solidFill>
              </a:rPr>
              <a:t>0.85</a:t>
            </a:r>
            <a:r>
              <a:rPr lang="en-CA" sz="1100">
                <a:solidFill>
                  <a:srgbClr val="000000"/>
                </a:solidFill>
              </a:rPr>
              <a:t> (0.5 = Guessing, 1.0 = Perfect).</a:t>
            </a:r>
            <a:endParaRPr sz="1100">
              <a:solidFill>
                <a:srgbClr val="000000"/>
              </a:solidFill>
            </a:endParaRPr>
          </a:p>
          <a:p>
            <a:pPr indent="-298450" lvl="0" marL="457200" rtl="0" algn="l">
              <a:lnSpc>
                <a:spcPct val="115000"/>
              </a:lnSpc>
              <a:spcBef>
                <a:spcPts val="0"/>
              </a:spcBef>
              <a:spcAft>
                <a:spcPts val="0"/>
              </a:spcAft>
              <a:buClr>
                <a:srgbClr val="000000"/>
              </a:buClr>
              <a:buSzPts val="1100"/>
              <a:buChar char="●"/>
            </a:pPr>
            <a:r>
              <a:rPr b="1" lang="en-CA" sz="1100">
                <a:solidFill>
                  <a:srgbClr val="000000"/>
                </a:solidFill>
              </a:rPr>
              <a:t>Result:</a:t>
            </a:r>
            <a:r>
              <a:rPr lang="en-CA" sz="1100">
                <a:solidFill>
                  <a:srgbClr val="000000"/>
                </a:solidFill>
              </a:rPr>
              <a:t> High ability to distinguish Survivors from Non-Survivors.</a:t>
            </a:r>
            <a:endParaRPr sz="1100">
              <a:solidFill>
                <a:srgbClr val="000000"/>
              </a:solidFill>
            </a:endParaRPr>
          </a:p>
          <a:p>
            <a:pPr indent="-298450" lvl="0" marL="457200" rtl="0" algn="l">
              <a:lnSpc>
                <a:spcPct val="115000"/>
              </a:lnSpc>
              <a:spcBef>
                <a:spcPts val="0"/>
              </a:spcBef>
              <a:spcAft>
                <a:spcPts val="0"/>
              </a:spcAft>
              <a:buClr>
                <a:srgbClr val="000000"/>
              </a:buClr>
              <a:buSzPts val="1100"/>
              <a:buChar char="●"/>
            </a:pPr>
            <a:r>
              <a:rPr b="1" lang="en-CA" sz="1100">
                <a:solidFill>
                  <a:srgbClr val="000000"/>
                </a:solidFill>
              </a:rPr>
              <a:t>Curve Shape:</a:t>
            </a:r>
            <a:r>
              <a:rPr lang="en-CA" sz="1100">
                <a:solidFill>
                  <a:srgbClr val="000000"/>
                </a:solidFill>
              </a:rPr>
              <a:t> Hugs top-left </a:t>
            </a:r>
            <a:r>
              <a:rPr lang="en-CA" sz="1100">
                <a:solidFill>
                  <a:srgbClr val="000000"/>
                </a:solidFill>
              </a:rPr>
              <a:t>corner &lt;-&gt; </a:t>
            </a:r>
            <a:r>
              <a:rPr lang="en-CA" sz="1100">
                <a:solidFill>
                  <a:srgbClr val="000000"/>
                </a:solidFill>
              </a:rPr>
              <a:t>High True Positive Rate, Low False Alarms.</a:t>
            </a:r>
            <a:endParaRPr sz="1100">
              <a:solidFill>
                <a:srgbClr val="000000"/>
              </a:solidFill>
            </a:endParaRPr>
          </a:p>
          <a:p>
            <a:pPr indent="0" lvl="0" marL="0" rtl="0" algn="l">
              <a:lnSpc>
                <a:spcPct val="115000"/>
              </a:lnSpc>
              <a:spcBef>
                <a:spcPts val="1800"/>
              </a:spcBef>
              <a:spcAft>
                <a:spcPts val="0"/>
              </a:spcAft>
              <a:buNone/>
            </a:pPr>
            <a:r>
              <a:rPr b="1" lang="en-CA" sz="1100">
                <a:solidFill>
                  <a:srgbClr val="000000"/>
                </a:solidFill>
              </a:rPr>
              <a:t>Final Conclusion:</a:t>
            </a:r>
            <a:endParaRPr b="1" sz="1100">
              <a:solidFill>
                <a:srgbClr val="000000"/>
              </a:solidFill>
            </a:endParaRPr>
          </a:p>
          <a:p>
            <a:pPr indent="-298450" lvl="0" marL="457200" rtl="0" algn="l">
              <a:lnSpc>
                <a:spcPct val="115000"/>
              </a:lnSpc>
              <a:spcBef>
                <a:spcPts val="0"/>
              </a:spcBef>
              <a:spcAft>
                <a:spcPts val="0"/>
              </a:spcAft>
              <a:buClr>
                <a:srgbClr val="000000"/>
              </a:buClr>
              <a:buSzPts val="1100"/>
              <a:buChar char="●"/>
            </a:pPr>
            <a:r>
              <a:rPr b="1" lang="en-CA" sz="1100">
                <a:solidFill>
                  <a:srgbClr val="000000"/>
                </a:solidFill>
              </a:rPr>
              <a:t>Strengths:</a:t>
            </a:r>
            <a:r>
              <a:rPr lang="en-CA" sz="1100">
                <a:solidFill>
                  <a:srgbClr val="000000"/>
                </a:solidFill>
              </a:rPr>
              <a:t> Simple, interpretable, and effective (80.72% Accuracy).</a:t>
            </a:r>
            <a:endParaRPr sz="1100">
              <a:solidFill>
                <a:srgbClr val="000000"/>
              </a:solidFill>
            </a:endParaRPr>
          </a:p>
          <a:p>
            <a:pPr indent="-298450" lvl="0" marL="457200" rtl="0" algn="l">
              <a:lnSpc>
                <a:spcPct val="115000"/>
              </a:lnSpc>
              <a:spcBef>
                <a:spcPts val="0"/>
              </a:spcBef>
              <a:spcAft>
                <a:spcPts val="0"/>
              </a:spcAft>
              <a:buClr>
                <a:srgbClr val="000000"/>
              </a:buClr>
              <a:buSzPts val="1100"/>
              <a:buChar char="●"/>
            </a:pPr>
            <a:r>
              <a:rPr b="1" lang="en-CA" sz="1100">
                <a:solidFill>
                  <a:srgbClr val="000000"/>
                </a:solidFill>
              </a:rPr>
              <a:t>Key Driver:</a:t>
            </a:r>
            <a:r>
              <a:rPr lang="en-CA" sz="1100">
                <a:solidFill>
                  <a:srgbClr val="000000"/>
                </a:solidFill>
              </a:rPr>
              <a:t> Feature Engineering (Log-transforms &amp; Ratios) boosted performance.</a:t>
            </a:r>
            <a:endParaRPr sz="1100">
              <a:solidFill>
                <a:srgbClr val="000000"/>
              </a:solidFill>
            </a:endParaRPr>
          </a:p>
          <a:p>
            <a:pPr indent="0" lvl="0" marL="0" rtl="0" algn="l">
              <a:lnSpc>
                <a:spcPct val="115000"/>
              </a:lnSpc>
              <a:spcBef>
                <a:spcPts val="1800"/>
              </a:spcBef>
              <a:spcAft>
                <a:spcPts val="0"/>
              </a:spcAft>
              <a:buNone/>
            </a:pPr>
            <a:r>
              <a:rPr b="1" lang="en-CA" sz="1100">
                <a:solidFill>
                  <a:srgbClr val="000000"/>
                </a:solidFill>
              </a:rPr>
              <a:t>Limitations &amp; Future Work:</a:t>
            </a:r>
            <a:endParaRPr b="1" sz="1100">
              <a:solidFill>
                <a:srgbClr val="000000"/>
              </a:solidFill>
            </a:endParaRPr>
          </a:p>
          <a:p>
            <a:pPr indent="-298450" lvl="0" marL="457200" rtl="0" algn="l">
              <a:lnSpc>
                <a:spcPct val="115000"/>
              </a:lnSpc>
              <a:spcBef>
                <a:spcPts val="0"/>
              </a:spcBef>
              <a:spcAft>
                <a:spcPts val="0"/>
              </a:spcAft>
              <a:buClr>
                <a:srgbClr val="000000"/>
              </a:buClr>
              <a:buSzPts val="1100"/>
              <a:buChar char="●"/>
            </a:pPr>
            <a:r>
              <a:rPr b="1" lang="en-CA" sz="1100">
                <a:solidFill>
                  <a:srgbClr val="000000"/>
                </a:solidFill>
              </a:rPr>
              <a:t>Scalability:</a:t>
            </a:r>
            <a:r>
              <a:rPr lang="en-CA" sz="1100">
                <a:solidFill>
                  <a:srgbClr val="000000"/>
                </a:solidFill>
              </a:rPr>
              <a:t> KNN is slow on large datasets (calculates distance to every point).</a:t>
            </a:r>
            <a:endParaRPr sz="1100">
              <a:solidFill>
                <a:srgbClr val="000000"/>
              </a:solidFill>
            </a:endParaRPr>
          </a:p>
          <a:p>
            <a:pPr indent="-298450" lvl="0" marL="457200" rtl="0" algn="l">
              <a:lnSpc>
                <a:spcPct val="115000"/>
              </a:lnSpc>
              <a:spcBef>
                <a:spcPts val="0"/>
              </a:spcBef>
              <a:spcAft>
                <a:spcPts val="0"/>
              </a:spcAft>
              <a:buClr>
                <a:srgbClr val="000000"/>
              </a:buClr>
              <a:buSzPts val="1100"/>
              <a:buChar char="●"/>
            </a:pPr>
            <a:r>
              <a:rPr b="1" lang="en-CA" sz="1100">
                <a:solidFill>
                  <a:srgbClr val="000000"/>
                </a:solidFill>
              </a:rPr>
              <a:t>Next Steps:</a:t>
            </a:r>
            <a:r>
              <a:rPr lang="en-CA" sz="1100">
                <a:solidFill>
                  <a:srgbClr val="000000"/>
                </a:solidFill>
              </a:rPr>
              <a:t> Implement Weighted KNN or Ensemble methods.</a:t>
            </a:r>
            <a:endParaRPr sz="1100">
              <a:solidFill>
                <a:srgbClr val="000000"/>
              </a:solidFill>
            </a:endParaRPr>
          </a:p>
          <a:p>
            <a:pPr indent="0" lvl="0" marL="0" rtl="0" algn="l">
              <a:spcBef>
                <a:spcPts val="1800"/>
              </a:spcBef>
              <a:spcAft>
                <a:spcPts val="0"/>
              </a:spcAft>
              <a:buNone/>
            </a:pPr>
            <a:r>
              <a:t/>
            </a:r>
            <a:endParaRPr/>
          </a:p>
        </p:txBody>
      </p:sp>
      <p:sp>
        <p:nvSpPr>
          <p:cNvPr id="307" name="Google Shape;307;p45"/>
          <p:cNvSpPr txBox="1"/>
          <p:nvPr>
            <p:ph type="title"/>
          </p:nvPr>
        </p:nvSpPr>
        <p:spPr>
          <a:xfrm>
            <a:off x="438954" y="560541"/>
            <a:ext cx="7886700" cy="451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CA"/>
              <a:t>Model Evaluation &amp; Conclusion</a:t>
            </a:r>
            <a:endParaRPr/>
          </a:p>
        </p:txBody>
      </p:sp>
      <p:pic>
        <p:nvPicPr>
          <p:cNvPr id="308" name="Google Shape;308;p45"/>
          <p:cNvPicPr preferRelativeResize="0"/>
          <p:nvPr/>
        </p:nvPicPr>
        <p:blipFill>
          <a:blip r:embed="rId3">
            <a:alphaModFix/>
          </a:blip>
          <a:stretch>
            <a:fillRect/>
          </a:stretch>
        </p:blipFill>
        <p:spPr>
          <a:xfrm>
            <a:off x="4502150" y="763425"/>
            <a:ext cx="4553525" cy="337712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pic>
        <p:nvPicPr>
          <p:cNvPr id="314" name="Google Shape;314;p46"/>
          <p:cNvPicPr preferRelativeResize="0"/>
          <p:nvPr/>
        </p:nvPicPr>
        <p:blipFill>
          <a:blip r:embed="rId3">
            <a:alphaModFix/>
          </a:blip>
          <a:stretch>
            <a:fillRect/>
          </a:stretch>
        </p:blipFill>
        <p:spPr>
          <a:xfrm>
            <a:off x="53950" y="90875"/>
            <a:ext cx="8764321" cy="48387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UBC Brand 1">
      <a:dk1>
        <a:srgbClr val="002040"/>
      </a:dk1>
      <a:lt1>
        <a:srgbClr val="FFFFFF"/>
      </a:lt1>
      <a:dk2>
        <a:srgbClr val="486B7F"/>
      </a:dk2>
      <a:lt2>
        <a:srgbClr val="EEECE1"/>
      </a:lt2>
      <a:accent1>
        <a:srgbClr val="002040"/>
      </a:accent1>
      <a:accent2>
        <a:srgbClr val="2E526B"/>
      </a:accent2>
      <a:accent3>
        <a:srgbClr val="6A8999"/>
      </a:accent3>
      <a:accent4>
        <a:srgbClr val="A7B9C1"/>
      </a:accent4>
      <a:accent5>
        <a:srgbClr val="BECBD0"/>
      </a:accent5>
      <a:accent6>
        <a:srgbClr val="D0DCDF"/>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